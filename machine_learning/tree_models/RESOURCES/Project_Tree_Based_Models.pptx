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Play" panose="020B0604020202020204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0" roundtripDataSignature="AMtx7mi2kV/DZaRBN5OqtRL0/tzjprEp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" name="Google Shape;1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8" name="Google Shape;24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6" name="Google Shape;306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3" name="Google Shape;3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7" name="Google Shape;407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1" name="Google Shape;45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7" name="Google Shape;50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6" name="Google Shape;53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9" name="Google Shape;57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3" name="Google Shape;71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6" name="Google Shape;736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3" name="Google Shape;76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0" name="Google Shape;80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18" name="Google Shape;818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">
  <p:cSld name="MASTER">
    <p:bg>
      <p:bgPr>
        <a:solidFill>
          <a:srgbClr val="F7F9FC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F3A5F"/>
          </a:solidFill>
          <a:ln w="12700" cap="flat" cmpd="sng">
            <a:solidFill>
              <a:srgbClr val="1F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4"/>
          <p:cNvSpPr/>
          <p:nvPr/>
        </p:nvSpPr>
        <p:spPr>
          <a:xfrm>
            <a:off x="320040" y="653796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Tree-Based Models | Customer Churn Project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sldNum" idx="12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 cap="flat" cmpd="sng">
            <a:solidFill>
              <a:srgbClr val="F7F9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3A5F"/>
          </a:solidFill>
          <a:ln w="12700" cap="flat" cmpd="sng">
            <a:solidFill>
              <a:srgbClr val="1F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58368" y="621792"/>
            <a:ext cx="1417320" cy="292608"/>
          </a:xfrm>
          <a:prstGeom prst="roundRect">
            <a:avLst>
              <a:gd name="adj" fmla="val 31250"/>
            </a:avLst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731520" y="690372"/>
            <a:ext cx="1271016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APPLIED PROJECT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658368" y="1234440"/>
            <a:ext cx="658368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Play"/>
              <a:buNone/>
            </a:pPr>
            <a:r>
              <a:rPr lang="en-US" sz="3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Tree-Based Models</a:t>
            </a:r>
            <a:endParaRPr sz="3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400"/>
              <a:buFont typeface="Play"/>
              <a:buNone/>
            </a:pPr>
            <a:r>
              <a:rPr lang="en-US" sz="3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Through a Churn Project</a:t>
            </a:r>
            <a:endParaRPr sz="3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94944" y="2578608"/>
            <a:ext cx="6492300" cy="31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 beginner-friendly walkthrough: terms, code steps, example outputs, and real-life business meaning.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694944" y="3657600"/>
            <a:ext cx="5943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694944" y="3657600"/>
            <a:ext cx="54864" cy="109728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859536" y="3785616"/>
            <a:ext cx="56509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Project story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59536" y="4114800"/>
            <a:ext cx="5650992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Predict which customers may leave, then use model output to plan retention actions.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7269480" y="1234440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7269480" y="1353312"/>
            <a:ext cx="7772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"/>
          <p:cNvCxnSpPr/>
          <p:nvPr/>
        </p:nvCxnSpPr>
        <p:spPr>
          <a:xfrm>
            <a:off x="8065008" y="1426464"/>
            <a:ext cx="118872" cy="0"/>
          </a:xfrm>
          <a:prstGeom prst="straightConnector1">
            <a:avLst/>
          </a:prstGeom>
          <a:noFill/>
          <a:ln w="152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4" name="Google Shape;34;p1"/>
          <p:cNvSpPr/>
          <p:nvPr/>
        </p:nvSpPr>
        <p:spPr>
          <a:xfrm>
            <a:off x="8211312" y="1234440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9F7F5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8211312" y="1353312"/>
            <a:ext cx="7772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"/>
          <p:cNvCxnSpPr/>
          <p:nvPr/>
        </p:nvCxnSpPr>
        <p:spPr>
          <a:xfrm>
            <a:off x="9006840" y="1426464"/>
            <a:ext cx="118872" cy="0"/>
          </a:xfrm>
          <a:prstGeom prst="straightConnector1">
            <a:avLst/>
          </a:prstGeom>
          <a:noFill/>
          <a:ln w="152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7" name="Google Shape;37;p1"/>
          <p:cNvSpPr/>
          <p:nvPr/>
        </p:nvSpPr>
        <p:spPr>
          <a:xfrm>
            <a:off x="9153144" y="1234440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9153144" y="1353312"/>
            <a:ext cx="7772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" name="Google Shape;39;p1"/>
          <p:cNvCxnSpPr/>
          <p:nvPr/>
        </p:nvCxnSpPr>
        <p:spPr>
          <a:xfrm>
            <a:off x="9948672" y="1426464"/>
            <a:ext cx="118872" cy="0"/>
          </a:xfrm>
          <a:prstGeom prst="straightConnector1">
            <a:avLst/>
          </a:prstGeom>
          <a:noFill/>
          <a:ln w="152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0" name="Google Shape;40;p1"/>
          <p:cNvSpPr/>
          <p:nvPr/>
        </p:nvSpPr>
        <p:spPr>
          <a:xfrm>
            <a:off x="10094976" y="1234440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9F7F5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10094976" y="1353312"/>
            <a:ext cx="7772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" name="Google Shape;42;p1"/>
          <p:cNvCxnSpPr/>
          <p:nvPr/>
        </p:nvCxnSpPr>
        <p:spPr>
          <a:xfrm>
            <a:off x="10890504" y="1426464"/>
            <a:ext cx="118872" cy="0"/>
          </a:xfrm>
          <a:prstGeom prst="straightConnector1">
            <a:avLst/>
          </a:prstGeom>
          <a:noFill/>
          <a:ln w="152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3" name="Google Shape;43;p1"/>
          <p:cNvSpPr/>
          <p:nvPr/>
        </p:nvSpPr>
        <p:spPr>
          <a:xfrm>
            <a:off x="11036808" y="1234440"/>
            <a:ext cx="777240" cy="384048"/>
          </a:xfrm>
          <a:prstGeom prst="roundRect">
            <a:avLst>
              <a:gd name="adj" fmla="val 9524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"/>
          <p:cNvSpPr/>
          <p:nvPr/>
        </p:nvSpPr>
        <p:spPr>
          <a:xfrm>
            <a:off x="11036808" y="1353312"/>
            <a:ext cx="7772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7315200" y="480060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AF3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1"/>
          <p:cNvSpPr/>
          <p:nvPr/>
        </p:nvSpPr>
        <p:spPr>
          <a:xfrm>
            <a:off x="7315200" y="4910328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7,032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7315200" y="5184648"/>
            <a:ext cx="129844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Rows after cleaning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/>
          <p:nvPr/>
        </p:nvSpPr>
        <p:spPr>
          <a:xfrm>
            <a:off x="7388352" y="5367528"/>
            <a:ext cx="1152144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50"/>
              <a:buFont typeface="Arial"/>
              <a:buNone/>
            </a:pPr>
            <a:r>
              <a:rPr lang="en-US" sz="6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example dataset</a:t>
            </a:r>
            <a:endParaRPr sz="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8732520" y="480060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E9F7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"/>
          <p:cNvSpPr/>
          <p:nvPr/>
        </p:nvSpPr>
        <p:spPr>
          <a:xfrm>
            <a:off x="8732520" y="4910328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Churn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1"/>
          <p:cNvSpPr/>
          <p:nvPr/>
        </p:nvSpPr>
        <p:spPr>
          <a:xfrm>
            <a:off x="8732520" y="5184648"/>
            <a:ext cx="129844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8805672" y="5367528"/>
            <a:ext cx="1152144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50"/>
              <a:buFont typeface="Arial"/>
              <a:buNone/>
            </a:pPr>
            <a:r>
              <a:rPr lang="en-US" sz="6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Yes / No</a:t>
            </a:r>
            <a:endParaRPr sz="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10149840" y="4800600"/>
            <a:ext cx="1298448" cy="822960"/>
          </a:xfrm>
          <a:prstGeom prst="roundRect">
            <a:avLst>
              <a:gd name="adj" fmla="val 8889"/>
            </a:avLst>
          </a:prstGeom>
          <a:solidFill>
            <a:srgbClr val="FFF4E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10149840" y="4910328"/>
            <a:ext cx="1298448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10149840" y="5184648"/>
            <a:ext cx="1298448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Key metric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10222992" y="5367528"/>
            <a:ext cx="1152144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50"/>
              <a:buFont typeface="Arial"/>
              <a:buNone/>
            </a:pPr>
            <a:r>
              <a:rPr lang="en-US" sz="6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catch churners</a:t>
            </a:r>
            <a:endParaRPr sz="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1. Business Problem: Customer Churn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Before choosing a model, define the real decision we want to support.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" y="1143000"/>
            <a:ext cx="38404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658368" y="1143000"/>
            <a:ext cx="54864" cy="105156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822960" y="1271016"/>
            <a:ext cx="3547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Business question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822960" y="1600200"/>
            <a:ext cx="3547872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Can we predict which customers are likely to leave the company?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2514600"/>
            <a:ext cx="38404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58368" y="2514600"/>
            <a:ext cx="54864" cy="187452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22960" y="2642616"/>
            <a:ext cx="35478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Machine learning type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22960" y="2971800"/>
            <a:ext cx="3547872" cy="1344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Supervised learning: the target is known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Classification: predict a category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Binary classification: Churn = 0 or 1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74920" y="1143000"/>
            <a:ext cx="63550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5349240" y="1417320"/>
            <a:ext cx="57607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Real-life implication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394960" y="1874520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FDEDEC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5486400" y="1979676"/>
            <a:ext cx="12344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High churn risk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6995160" y="2048256"/>
            <a:ext cx="457200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" name="Google Shape;78;p3"/>
          <p:cNvSpPr/>
          <p:nvPr/>
        </p:nvSpPr>
        <p:spPr>
          <a:xfrm>
            <a:off x="7589520" y="1947672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Send retention offer or call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5394960" y="2624328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5486400" y="2729484"/>
            <a:ext cx="12344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Low churn risk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6995160" y="2798064"/>
            <a:ext cx="457200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2" name="Google Shape;82;p3"/>
          <p:cNvSpPr/>
          <p:nvPr/>
        </p:nvSpPr>
        <p:spPr>
          <a:xfrm>
            <a:off x="7589520" y="2697480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 action or normal marketing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394960" y="3374136"/>
            <a:ext cx="1417320" cy="347472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486400" y="3479292"/>
            <a:ext cx="12344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Unclear case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6995160" y="3547872"/>
            <a:ext cx="457200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6" name="Google Shape;86;p3"/>
          <p:cNvSpPr/>
          <p:nvPr/>
        </p:nvSpPr>
        <p:spPr>
          <a:xfrm>
            <a:off x="7589520" y="3447288"/>
            <a:ext cx="3474720" cy="164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Ask for more data / monitor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13232" y="5138928"/>
            <a:ext cx="10652760" cy="566928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 w="101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3"/>
          <p:cNvSpPr/>
          <p:nvPr/>
        </p:nvSpPr>
        <p:spPr>
          <a:xfrm>
            <a:off x="877824" y="5248656"/>
            <a:ext cx="1032357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Say this: The model is useful only if its prediction leads to a better business decision.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2. Dataset: Rows, Features, and Target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Start by explaining what each part of the table represents.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31520" y="1143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EAF3F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731520" y="125272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7,032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731520" y="1527048"/>
            <a:ext cx="16916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Rows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804672" y="1709928"/>
            <a:ext cx="154533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50"/>
              <a:buFont typeface="Arial"/>
              <a:buNone/>
            </a:pPr>
            <a:r>
              <a:rPr lang="en-US" sz="6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customers after cleaning</a:t>
            </a:r>
            <a:endParaRPr sz="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697480" y="1143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E9F7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697480" y="125272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Churn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2697480" y="1527048"/>
            <a:ext cx="16916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Target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2770632" y="1709928"/>
            <a:ext cx="154533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50"/>
              <a:buFont typeface="Arial"/>
              <a:buNone/>
            </a:pPr>
            <a:r>
              <a:rPr lang="en-US" sz="6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what we predict</a:t>
            </a:r>
            <a:endParaRPr sz="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663440" y="1143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FF4E6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4663440" y="125272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20+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663440" y="1527048"/>
            <a:ext cx="16916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4736592" y="1709928"/>
            <a:ext cx="154533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50"/>
              <a:buFont typeface="Arial"/>
              <a:buNone/>
            </a:pPr>
            <a:r>
              <a:rPr lang="en-US" sz="6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customer information</a:t>
            </a:r>
            <a:endParaRPr sz="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629400" y="1143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FDEDEC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6629400" y="125272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 / 1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629400" y="1527048"/>
            <a:ext cx="16916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Classes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6702552" y="1709928"/>
            <a:ext cx="154533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50"/>
              <a:buFont typeface="Arial"/>
              <a:buNone/>
            </a:pPr>
            <a:r>
              <a:rPr lang="en-US" sz="6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No Churn / Churn</a:t>
            </a:r>
            <a:endParaRPr sz="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8595360" y="1143000"/>
            <a:ext cx="1691640" cy="822960"/>
          </a:xfrm>
          <a:prstGeom prst="roundRect">
            <a:avLst>
              <a:gd name="adj" fmla="val 8889"/>
            </a:avLst>
          </a:prstGeom>
          <a:solidFill>
            <a:srgbClr val="EFEAFE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8595360" y="1252728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700"/>
              <a:buFont typeface="Arial"/>
              <a:buNone/>
            </a:pPr>
            <a:r>
              <a:rPr lang="en-US" sz="17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endParaRPr sz="17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595360" y="1527048"/>
            <a:ext cx="16916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8668512" y="1709928"/>
            <a:ext cx="154533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50"/>
              <a:buFont typeface="Arial"/>
              <a:buNone/>
            </a:pPr>
            <a:r>
              <a:rPr lang="en-US" sz="6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classification</a:t>
            </a:r>
            <a:endParaRPr sz="6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77240" y="2743200"/>
            <a:ext cx="1005840" cy="347472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813816" y="2852928"/>
            <a:ext cx="9326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tenure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1783080" y="2743200"/>
            <a:ext cx="1417320" cy="347472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1819656" y="2852928"/>
            <a:ext cx="13441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MonthlyCharges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200400" y="2743200"/>
            <a:ext cx="1828800" cy="347472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236976" y="2852928"/>
            <a:ext cx="17556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Contract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5029200" y="2743200"/>
            <a:ext cx="1371600" cy="347472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5065776" y="2852928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TechSupport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400800" y="2743200"/>
            <a:ext cx="1005840" cy="347472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437376" y="2852928"/>
            <a:ext cx="9326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Churn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777240" y="3090672"/>
            <a:ext cx="100584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813816" y="3200400"/>
            <a:ext cx="9326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1783080" y="3090672"/>
            <a:ext cx="141732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819656" y="3200400"/>
            <a:ext cx="13441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29.85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200400" y="3090672"/>
            <a:ext cx="18288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3236976" y="3200400"/>
            <a:ext cx="17556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Month-to-month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029200" y="3090672"/>
            <a:ext cx="13716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5065776" y="3200400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400800" y="3090672"/>
            <a:ext cx="100584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4"/>
          <p:cNvSpPr/>
          <p:nvPr/>
        </p:nvSpPr>
        <p:spPr>
          <a:xfrm>
            <a:off x="6437376" y="3200400"/>
            <a:ext cx="9326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777240" y="3438144"/>
            <a:ext cx="1005840" cy="34747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813816" y="3547872"/>
            <a:ext cx="9326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1783080" y="3438144"/>
            <a:ext cx="1417320" cy="34747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1819656" y="3547872"/>
            <a:ext cx="13441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56.95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200400" y="3438144"/>
            <a:ext cx="1828800" cy="34747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3236976" y="3547872"/>
            <a:ext cx="17556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year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5029200" y="3438144"/>
            <a:ext cx="1371600" cy="34747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065776" y="3547872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6400800" y="3438144"/>
            <a:ext cx="1005840" cy="347472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437376" y="3547872"/>
            <a:ext cx="9326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777240" y="3785616"/>
            <a:ext cx="100584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813816" y="3895344"/>
            <a:ext cx="9326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783080" y="3785616"/>
            <a:ext cx="141732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1819656" y="3895344"/>
            <a:ext cx="13441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53.85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3200400" y="3785616"/>
            <a:ext cx="18288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3236976" y="3895344"/>
            <a:ext cx="17556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Month-to-month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029200" y="3785616"/>
            <a:ext cx="137160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065776" y="3895344"/>
            <a:ext cx="12984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6400800" y="3785616"/>
            <a:ext cx="1005840" cy="347472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6437376" y="3895344"/>
            <a:ext cx="9326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Yes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7635240" y="2788920"/>
            <a:ext cx="34290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7635240" y="2788920"/>
            <a:ext cx="54864" cy="178308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7799832" y="2916936"/>
            <a:ext cx="3136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7799832" y="3246120"/>
            <a:ext cx="3136392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One row = one customer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Features describe the customer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Target is the answer the model learns to predict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777240" y="5212080"/>
            <a:ext cx="10287000" cy="502920"/>
          </a:xfrm>
          <a:prstGeom prst="roundRect">
            <a:avLst>
              <a:gd name="adj" fmla="val 14545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941832" y="5321808"/>
            <a:ext cx="9957816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Junior focus: Always identify X and y before building any model.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3. Split the Table into X and y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This is where data leakage can happen if we are careless.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31520" y="1143000"/>
            <a:ext cx="484632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868680" y="1252728"/>
            <a:ext cx="4572000" cy="1060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y = df["Churn"].map({"No": 0, "Yes": 1})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 = df.drop(columns=["Churn", "customerID"])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731520" y="274320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731520" y="2743200"/>
            <a:ext cx="54864" cy="178308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896112" y="2871216"/>
            <a:ext cx="4553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Terms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896112" y="3200400"/>
            <a:ext cx="4553712" cy="1252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y = target label: what we predict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X = features: what the model uses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customerID = identifier, not behavior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172200" y="114300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FDEDEC"/>
          </a:solidFill>
          <a:ln w="1015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446520" y="14173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 leakage warning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6446520" y="1901952"/>
            <a:ext cx="45262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Churn stays inside X, the model sees the answer during training. Results may look very high but are fake.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914400" y="5257800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FFF4E6"/>
          </a:solidFill>
          <a:ln w="101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1078992" y="5367528"/>
            <a:ext cx="982065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Business meaning: leakage creates a model that cannot work in the real world.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4. Clean Numeric Columns: TotalCharges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Some columns look numeric but are stored as text.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731520" y="1078992"/>
            <a:ext cx="5074920" cy="2331720"/>
          </a:xfrm>
          <a:prstGeom prst="roundRect">
            <a:avLst>
              <a:gd name="adj" fmla="val 2353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868680" y="1188720"/>
            <a:ext cx="4800600" cy="21122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Consolas"/>
              <a:buNone/>
            </a:pPr>
            <a:r>
              <a:rPr lang="en-US" sz="102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df["TotalCharges"] = pd.to_numeric(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Consolas"/>
              <a:buNone/>
            </a:pPr>
            <a:r>
              <a:rPr lang="en-US" sz="102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df["TotalCharges"],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Consolas"/>
              <a:buNone/>
            </a:pPr>
            <a:r>
              <a:rPr lang="en-US" sz="102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errors="coerce"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Consolas"/>
              <a:buNone/>
            </a:pPr>
            <a:r>
              <a:rPr lang="en-US" sz="102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20"/>
              <a:buFont typeface="Arial"/>
              <a:buNone/>
            </a:pP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Consolas"/>
              <a:buNone/>
            </a:pPr>
            <a:r>
              <a:rPr lang="en-US" sz="102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missing = df["TotalCharges"].isnull().sum()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Consolas"/>
              <a:buNone/>
            </a:pPr>
            <a:r>
              <a:rPr lang="en-US" sz="102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df = df.dropna(subset=["TotalCharges"])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263640" y="1078992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6263640" y="1078992"/>
            <a:ext cx="54864" cy="169164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6428232" y="1207008"/>
            <a:ext cx="4279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Term: errors="coerce"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428232" y="1536192"/>
            <a:ext cx="4279392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Invalid values become NaN instead of crashing the code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Example: " " → NaN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Then we decide how to handle missing values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263640" y="3063240"/>
            <a:ext cx="45720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6263640" y="3063240"/>
            <a:ext cx="54864" cy="169164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6428232" y="3191256"/>
            <a:ext cx="4279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Example result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428232" y="3520440"/>
            <a:ext cx="4279392" cy="116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Missing TotalCharges: 11 rows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Rows after cleaning: 7,032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Small missing percentage → dropping rows is acceptable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777240" y="5349240"/>
            <a:ext cx="10287000" cy="512064"/>
          </a:xfrm>
          <a:prstGeom prst="roundRect">
            <a:avLst>
              <a:gd name="adj" fmla="val 14286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941832" y="5458968"/>
            <a:ext cx="9957816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Practical meaning: clean inputs prevent wrong training and make results trustworthy.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5. Encode Categorical Features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Trees still need numeric input when using scikit-learn.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749808" y="1097280"/>
            <a:ext cx="45262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886968" y="1207008"/>
            <a:ext cx="4251960" cy="46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onsolas"/>
              <a:buNone/>
            </a:pPr>
            <a:r>
              <a:rPr lang="en-US" sz="130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 = pd.get_dummies(X, drop_first=True)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868680" y="192024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Before encoding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868680" y="2240280"/>
            <a:ext cx="1920240" cy="365760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914400" y="2359152"/>
            <a:ext cx="182880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20"/>
              <a:buFont typeface="Arial"/>
              <a:buNone/>
            </a:pPr>
            <a:r>
              <a:rPr lang="en-US" sz="8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Contract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868680" y="2606040"/>
            <a:ext cx="192024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914400" y="2724912"/>
            <a:ext cx="182880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Month-to-month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68680" y="2971800"/>
            <a:ext cx="1920240" cy="3657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914400" y="3090672"/>
            <a:ext cx="182880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year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68680" y="3337560"/>
            <a:ext cx="192024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914400" y="3456432"/>
            <a:ext cx="182880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Two year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7"/>
          <p:cNvCxnSpPr/>
          <p:nvPr/>
        </p:nvCxnSpPr>
        <p:spPr>
          <a:xfrm>
            <a:off x="3063240" y="2788920"/>
            <a:ext cx="777240" cy="0"/>
          </a:xfrm>
          <a:prstGeom prst="straightConnector1">
            <a:avLst/>
          </a:prstGeom>
          <a:noFill/>
          <a:ln w="15225" cap="flat" cmpd="sng">
            <a:solidFill>
              <a:srgbClr val="2A9D8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22" name="Google Shape;222;p7"/>
          <p:cNvSpPr/>
          <p:nvPr/>
        </p:nvSpPr>
        <p:spPr>
          <a:xfrm>
            <a:off x="4160520" y="1920240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After get_dummies()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160520" y="2240280"/>
            <a:ext cx="1508760" cy="365760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4187952" y="2340864"/>
            <a:ext cx="144475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Arial"/>
              <a:buNone/>
            </a:pPr>
            <a:r>
              <a:rPr lang="en-US" sz="6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Contract_One year</a:t>
            </a:r>
            <a:endParaRPr sz="6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669280" y="2240280"/>
            <a:ext cx="1508760" cy="365760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5696712" y="2340864"/>
            <a:ext cx="1444752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"/>
              <a:buFont typeface="Arial"/>
              <a:buNone/>
            </a:pPr>
            <a:r>
              <a:rPr lang="en-US" sz="64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Contract_Two year</a:t>
            </a:r>
            <a:endParaRPr sz="6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4160520" y="2606040"/>
            <a:ext cx="1508760" cy="3657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4160520" y="2724912"/>
            <a:ext cx="15087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669280" y="2606040"/>
            <a:ext cx="1508760" cy="3657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669280" y="2724912"/>
            <a:ext cx="15087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160520" y="2971800"/>
            <a:ext cx="150876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4160520" y="3090672"/>
            <a:ext cx="15087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5669280" y="2971800"/>
            <a:ext cx="1508760" cy="36576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5669280" y="3090672"/>
            <a:ext cx="15087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160520" y="3337560"/>
            <a:ext cx="1508760" cy="3657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160520" y="3456432"/>
            <a:ext cx="15087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669280" y="3337560"/>
            <a:ext cx="1508760" cy="365760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5669280" y="3456432"/>
            <a:ext cx="150876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20"/>
              <a:buFont typeface="Arial"/>
              <a:buNone/>
            </a:pPr>
            <a:r>
              <a:rPr lang="en-US" sz="82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7635240" y="1097280"/>
            <a:ext cx="347472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7635240" y="1097280"/>
            <a:ext cx="54864" cy="224028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7799832" y="1225296"/>
            <a:ext cx="31821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Meaning of drop_first=True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7799832" y="1554480"/>
            <a:ext cx="3182112" cy="1709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70"/>
              <a:buFont typeface="Arial"/>
              <a:buNone/>
            </a:pPr>
            <a:r>
              <a:rPr lang="en-US" sz="97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One category is removed to avoid redundant columns</a:t>
            </a:r>
            <a:endParaRPr sz="9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70"/>
              <a:buFont typeface="Arial"/>
              <a:buNone/>
            </a:pPr>
            <a:r>
              <a:rPr lang="en-US" sz="97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If both remaining columns are 0, it means the removed category</a:t>
            </a:r>
            <a:endParaRPr sz="9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70"/>
              <a:buFont typeface="Arial"/>
              <a:buNone/>
            </a:pPr>
            <a:r>
              <a:rPr lang="en-US" sz="97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We keep information without extra duplicated columns</a:t>
            </a:r>
            <a:endParaRPr sz="97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68680" y="5257800"/>
            <a:ext cx="10195560" cy="548640"/>
          </a:xfrm>
          <a:prstGeom prst="roundRect">
            <a:avLst>
              <a:gd name="adj" fmla="val 13333"/>
            </a:avLst>
          </a:prstGeom>
          <a:solidFill>
            <a:srgbClr val="FFF4E6"/>
          </a:solidFill>
          <a:ln w="101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1033272" y="5367528"/>
            <a:ext cx="98663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Practical meaning: keep useful business categories instead of deleting them.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8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6. Train/Test Split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We need a fair test on customers the model has not seen.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85800" y="1078992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822960" y="1188720"/>
            <a:ext cx="4937760" cy="1609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Consolas"/>
              <a:buNone/>
            </a:pPr>
            <a:r>
              <a:rPr lang="en-US" sz="104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X_train, X_test, y_train, y_test = train_test_split(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Consolas"/>
              <a:buNone/>
            </a:pPr>
            <a:r>
              <a:rPr lang="en-US" sz="104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X, y,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Consolas"/>
              <a:buNone/>
            </a:pPr>
            <a:r>
              <a:rPr lang="en-US" sz="104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test_size=0.2,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Consolas"/>
              <a:buNone/>
            </a:pPr>
            <a:r>
              <a:rPr lang="en-US" sz="104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random_state=42,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Consolas"/>
              <a:buNone/>
            </a:pPr>
            <a:r>
              <a:rPr lang="en-US" sz="104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stratify=y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40"/>
              <a:buFont typeface="Consolas"/>
              <a:buNone/>
            </a:pPr>
            <a:r>
              <a:rPr lang="en-US" sz="104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6400800" y="1280160"/>
            <a:ext cx="4206240" cy="438912"/>
          </a:xfrm>
          <a:prstGeom prst="rect">
            <a:avLst/>
          </a:prstGeom>
          <a:solidFill>
            <a:srgbClr val="1F3A5F"/>
          </a:solidFill>
          <a:ln w="12700" cap="flat" cmpd="sng">
            <a:solidFill>
              <a:srgbClr val="1F3A5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400800" y="1417320"/>
            <a:ext cx="42062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Original target distribution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400800" y="1874520"/>
            <a:ext cx="3063240" cy="411480"/>
          </a:xfrm>
          <a:prstGeom prst="rect">
            <a:avLst/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9464040" y="1874520"/>
            <a:ext cx="1143000" cy="411480"/>
          </a:xfrm>
          <a:prstGeom prst="rect">
            <a:avLst/>
          </a:prstGeom>
          <a:solidFill>
            <a:srgbClr val="FDEDEC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6400800" y="2002536"/>
            <a:ext cx="306324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30"/>
              <a:buFont typeface="Arial"/>
              <a:buNone/>
            </a:pPr>
            <a:r>
              <a:rPr lang="en-US" sz="83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No Churn ~73%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9464040" y="2002536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10"/>
              <a:buFont typeface="Arial"/>
              <a:buNone/>
            </a:pPr>
            <a:r>
              <a:rPr lang="en-US" sz="81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Churn ~27%</a:t>
            </a:r>
            <a:endParaRPr sz="8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8"/>
          <p:cNvCxnSpPr/>
          <p:nvPr/>
        </p:nvCxnSpPr>
        <p:spPr>
          <a:xfrm>
            <a:off x="8503920" y="2318010"/>
            <a:ext cx="0" cy="41160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2" name="Google Shape;262;p8"/>
          <p:cNvSpPr/>
          <p:nvPr/>
        </p:nvSpPr>
        <p:spPr>
          <a:xfrm>
            <a:off x="6460600" y="2706363"/>
            <a:ext cx="4206300" cy="402300"/>
          </a:xfrm>
          <a:prstGeom prst="roundRect">
            <a:avLst>
              <a:gd name="adj" fmla="val 11364"/>
            </a:avLst>
          </a:prstGeom>
          <a:solidFill>
            <a:srgbClr val="E9F7F5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6597760" y="2834379"/>
            <a:ext cx="3931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 set keeps similar class ratio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6460600" y="3300723"/>
            <a:ext cx="4206300" cy="402300"/>
          </a:xfrm>
          <a:prstGeom prst="roundRect">
            <a:avLst>
              <a:gd name="adj" fmla="val 11364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6597760" y="3428739"/>
            <a:ext cx="3931800" cy="1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Test set keeps similar class ratio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1160048" y="4044600"/>
            <a:ext cx="4263600" cy="1963500"/>
          </a:xfrm>
          <a:prstGeom prst="roundRect">
            <a:avLst>
              <a:gd name="adj" fmla="val 12121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8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1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310440" y="4332550"/>
            <a:ext cx="2440500" cy="1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525"/>
              <a:buFont typeface="Arial"/>
              <a:buNone/>
            </a:pPr>
            <a:r>
              <a:rPr lang="en-US" sz="1525" b="1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Why stratify=y?</a:t>
            </a:r>
            <a:endParaRPr sz="1525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1533560" y="4646312"/>
            <a:ext cx="3765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44"/>
              <a:buFont typeface="Arial"/>
              <a:buNone/>
            </a:pPr>
            <a:r>
              <a:rPr lang="en-US" sz="1144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Keeps the same Churn / No Churn ratio in train and test</a:t>
            </a:r>
            <a:endParaRPr sz="114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1533560" y="4994937"/>
            <a:ext cx="3765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44"/>
              <a:buFont typeface="Arial"/>
              <a:buNone/>
            </a:pPr>
            <a:r>
              <a:rPr lang="en-US" sz="1144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Prevents an unfair test set</a:t>
            </a:r>
            <a:endParaRPr sz="114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1533560" y="5343562"/>
            <a:ext cx="3765000" cy="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144"/>
              <a:buFont typeface="Arial"/>
              <a:buNone/>
            </a:pPr>
            <a:r>
              <a:rPr lang="en-US" sz="1144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Important when classes are imbalanced</a:t>
            </a:r>
            <a:endParaRPr sz="114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6012150" y="3795403"/>
            <a:ext cx="1097400" cy="594300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6067014" y="383655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Set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7109430" y="3795403"/>
            <a:ext cx="1097400" cy="594300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7164294" y="383655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No Churn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8206710" y="3795403"/>
            <a:ext cx="1097400" cy="594300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8261574" y="383655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Churn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9303990" y="3795403"/>
            <a:ext cx="1691700" cy="594300"/>
          </a:xfrm>
          <a:prstGeom prst="rect">
            <a:avLst/>
          </a:prstGeom>
          <a:solidFill>
            <a:srgbClr val="E2E8F0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9358854" y="3836551"/>
            <a:ext cx="1581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80"/>
              <a:buFont typeface="Arial"/>
              <a:buNone/>
            </a:pPr>
            <a:r>
              <a:rPr lang="en-US" sz="1080" b="1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 sz="108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012150" y="438976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067014" y="443091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Full data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7109430" y="438976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7164294" y="443091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73.4%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206710" y="438976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261574" y="443091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26.6%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9303990" y="4389763"/>
            <a:ext cx="16917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9358854" y="4430911"/>
            <a:ext cx="1581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Original ratio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6012150" y="498412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6067014" y="502527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109430" y="498412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7164294" y="502527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73.4%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8206710" y="498412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8261574" y="502527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26.6%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9303990" y="4984123"/>
            <a:ext cx="16917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9358854" y="5025271"/>
            <a:ext cx="1581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Learning data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012150" y="557848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6067014" y="561963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7109430" y="557848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7164294" y="561963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73.4%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8206710" y="5578483"/>
            <a:ext cx="10974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8261574" y="5619631"/>
            <a:ext cx="9876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26.6%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9303990" y="5578483"/>
            <a:ext cx="1691700" cy="594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9358854" y="5619631"/>
            <a:ext cx="1581900" cy="51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2033"/>
              </a:buClr>
              <a:buSzPts val="1040"/>
              <a:buFont typeface="Arial"/>
              <a:buNone/>
            </a:pPr>
            <a:r>
              <a:rPr lang="en-US" sz="1040" b="0" i="0" u="none" strike="noStrike" cap="non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Unseen evaluation</a:t>
            </a:r>
            <a:endParaRPr sz="104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7. Baseline Decision Tree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First build a simple model so later improvements have a reference point.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685800" y="1078992"/>
            <a:ext cx="5074920" cy="2194560"/>
          </a:xfrm>
          <a:prstGeom prst="roundRect">
            <a:avLst>
              <a:gd name="adj" fmla="val 2500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822960" y="1188720"/>
            <a:ext cx="4800600" cy="1975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Consolas"/>
              <a:buNone/>
            </a:pPr>
            <a:r>
              <a:rPr lang="en-US" sz="10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tree_model = DecisionTreeClassifier(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Consolas"/>
              <a:buNone/>
            </a:pPr>
            <a:r>
              <a:rPr lang="en-US" sz="10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criterion="gini",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Consolas"/>
              <a:buNone/>
            </a:pPr>
            <a:r>
              <a:rPr lang="en-US" sz="10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random_state=42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Consolas"/>
              <a:buNone/>
            </a:pPr>
            <a:r>
              <a:rPr lang="en-US" sz="10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60"/>
              <a:buFont typeface="Arial"/>
              <a:buNone/>
            </a:pP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Consolas"/>
              <a:buNone/>
            </a:pPr>
            <a:r>
              <a:rPr lang="en-US" sz="10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tree_model.fit(X_train, y_train)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60"/>
              <a:buFont typeface="Consolas"/>
              <a:buNone/>
            </a:pPr>
            <a:r>
              <a:rPr lang="en-US" sz="10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y_pred = tree_model.predict(X_test)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6172200" y="1078992"/>
            <a:ext cx="48006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6172200" y="1078992"/>
            <a:ext cx="54864" cy="219456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6336792" y="1207008"/>
            <a:ext cx="45079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Terms in this step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6336792" y="1536192"/>
            <a:ext cx="4507992" cy="1664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10"/>
              <a:buFont typeface="Arial"/>
              <a:buNone/>
            </a:pPr>
            <a:r>
              <a:rPr lang="en-US" sz="101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Decision Tree: asks yes/no questions</a:t>
            </a:r>
            <a:endParaRPr sz="10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10"/>
              <a:buFont typeface="Arial"/>
              <a:buNone/>
            </a:pPr>
            <a:r>
              <a:rPr lang="en-US" sz="101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Gini impurity: measures how mixed a node is</a:t>
            </a:r>
            <a:endParaRPr sz="10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10"/>
              <a:buFont typeface="Arial"/>
              <a:buNone/>
            </a:pPr>
            <a:r>
              <a:rPr lang="en-US" sz="101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fit(): learn from training data</a:t>
            </a:r>
            <a:endParaRPr sz="10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10"/>
              <a:buFont typeface="Arial"/>
              <a:buNone/>
            </a:pPr>
            <a:r>
              <a:rPr lang="en-US" sz="101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predict(): generate class labels for test data</a:t>
            </a:r>
            <a:endParaRPr sz="101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6172200" y="4069080"/>
            <a:ext cx="4800600" cy="566928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 w="101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6336792" y="4178808"/>
            <a:ext cx="44714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Baseline is not the final model. It shows what happens before pruning and ensembles.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9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9" descr="/mnt/data/tree_guide_images/decision_tre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5799" y="3539424"/>
            <a:ext cx="5018852" cy="260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8. Evaluate: Accuracy, Precision, Recall, F1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For churn, accuracy alone can hide weak performance on the minority class.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795525" y="1574950"/>
            <a:ext cx="4572000" cy="927000"/>
          </a:xfrm>
          <a:prstGeom prst="roundRect">
            <a:avLst>
              <a:gd name="adj" fmla="val 9231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0"/>
          <p:cNvSpPr/>
          <p:nvPr/>
        </p:nvSpPr>
        <p:spPr>
          <a:xfrm>
            <a:off x="932685" y="1746119"/>
            <a:ext cx="4297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onsolas"/>
              <a:buNone/>
            </a:pPr>
            <a:r>
              <a:rPr lang="en-US" sz="120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print(classification_report(y_test, y_pred))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886965" y="3101207"/>
            <a:ext cx="1326000" cy="541800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923541" y="3286640"/>
            <a:ext cx="1252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Arial"/>
              <a:buNone/>
            </a:pPr>
            <a:r>
              <a:rPr lang="en-US" sz="7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Class</a:t>
            </a:r>
            <a:endParaRPr sz="7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0"/>
          <p:cNvSpPr/>
          <p:nvPr/>
        </p:nvSpPr>
        <p:spPr>
          <a:xfrm>
            <a:off x="2212844" y="3101207"/>
            <a:ext cx="960000" cy="541800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2249420" y="3286640"/>
            <a:ext cx="887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Arial"/>
              <a:buNone/>
            </a:pPr>
            <a:r>
              <a:rPr lang="en-US" sz="7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Precision</a:t>
            </a:r>
            <a:endParaRPr sz="7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3172963" y="3101207"/>
            <a:ext cx="960000" cy="541800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0"/>
          <p:cNvSpPr/>
          <p:nvPr/>
        </p:nvSpPr>
        <p:spPr>
          <a:xfrm>
            <a:off x="3209539" y="3286640"/>
            <a:ext cx="887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Arial"/>
              <a:buNone/>
            </a:pPr>
            <a:r>
              <a:rPr lang="en-US" sz="7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sz="7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133083" y="3101207"/>
            <a:ext cx="777300" cy="541800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169659" y="3286640"/>
            <a:ext cx="704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Arial"/>
              <a:buNone/>
            </a:pPr>
            <a:r>
              <a:rPr lang="en-US" sz="7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F1</a:t>
            </a:r>
            <a:endParaRPr sz="7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4910322" y="3101207"/>
            <a:ext cx="868800" cy="541800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4946898" y="3286640"/>
            <a:ext cx="7956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"/>
              <a:buFont typeface="Arial"/>
              <a:buNone/>
            </a:pPr>
            <a:r>
              <a:rPr lang="en-US" sz="76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sz="7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886965" y="3643242"/>
            <a:ext cx="1326000" cy="599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0"/>
          <p:cNvSpPr/>
          <p:nvPr/>
        </p:nvSpPr>
        <p:spPr>
          <a:xfrm>
            <a:off x="923541" y="3842939"/>
            <a:ext cx="1252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 No Churn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2212844" y="3643242"/>
            <a:ext cx="960000" cy="599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2249420" y="3842939"/>
            <a:ext cx="887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3172963" y="3643242"/>
            <a:ext cx="960000" cy="599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3209539" y="3842939"/>
            <a:ext cx="887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0.79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133083" y="3643242"/>
            <a:ext cx="777300" cy="599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4169659" y="3842939"/>
            <a:ext cx="704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910322" y="3643242"/>
            <a:ext cx="868800" cy="5991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4946898" y="3842939"/>
            <a:ext cx="7956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1035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886965" y="4242333"/>
            <a:ext cx="1326000" cy="599100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923541" y="4442031"/>
            <a:ext cx="12528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 Churn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2212844" y="4242333"/>
            <a:ext cx="960000" cy="599100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2249420" y="4442031"/>
            <a:ext cx="887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0.47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3172963" y="4242333"/>
            <a:ext cx="960000" cy="599100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0"/>
          <p:cNvSpPr/>
          <p:nvPr/>
        </p:nvSpPr>
        <p:spPr>
          <a:xfrm>
            <a:off x="3209539" y="4442031"/>
            <a:ext cx="887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0.53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133083" y="4242333"/>
            <a:ext cx="777300" cy="599100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4169659" y="4442031"/>
            <a:ext cx="7041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0.50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4910322" y="4242333"/>
            <a:ext cx="868800" cy="599100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4946898" y="4442031"/>
            <a:ext cx="795600" cy="14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80"/>
              <a:buFont typeface="Arial"/>
              <a:buNone/>
            </a:pPr>
            <a:r>
              <a:rPr lang="en-US" sz="78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374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6464801" y="1674799"/>
            <a:ext cx="4572000" cy="3209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6464801" y="1674799"/>
            <a:ext cx="54900" cy="320940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0"/>
          <p:cNvSpPr/>
          <p:nvPr/>
        </p:nvSpPr>
        <p:spPr>
          <a:xfrm>
            <a:off x="6629393" y="1874496"/>
            <a:ext cx="4279500" cy="3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How to explain class 1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6629393" y="2388003"/>
            <a:ext cx="4279500" cy="23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Precision: when the model says Churn, how often is it right?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Recall: out of all real churners, how many did we catch?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F1: balance between precision and recall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0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1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9. Check Overfitting with Train vs Test Accuracy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 model can look perfect on training data and still fail on new customers.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731520" y="1078992"/>
            <a:ext cx="4754880" cy="12344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868680" y="1188720"/>
            <a:ext cx="4480560" cy="1014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train_acc = tree_model.score(X_train, y_train)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test_acc = tree_model.score(X_test, y_test)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onsolas"/>
              <a:buNone/>
            </a:pPr>
            <a:r>
              <a:rPr lang="en-US" sz="110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gap = abs(train_acc - test_acc)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6263640" y="1124712"/>
            <a:ext cx="402336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Example baseline result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6263640" y="1508760"/>
            <a:ext cx="594360" cy="228600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6172200" y="1344168"/>
            <a:ext cx="77724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172200" y="3886200"/>
            <a:ext cx="7772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7498080" y="2125980"/>
            <a:ext cx="594360" cy="166878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7406640" y="1961388"/>
            <a:ext cx="77724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00"/>
              <a:buFont typeface="Arial"/>
              <a:buNone/>
            </a:pPr>
            <a:r>
              <a:rPr lang="en-US" sz="9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0.73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7406640" y="3886200"/>
            <a:ext cx="77724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11"/>
          <p:cNvCxnSpPr/>
          <p:nvPr/>
        </p:nvCxnSpPr>
        <p:spPr>
          <a:xfrm>
            <a:off x="6126480" y="3794760"/>
            <a:ext cx="2926080" cy="0"/>
          </a:xfrm>
          <a:prstGeom prst="straightConnector1">
            <a:avLst/>
          </a:prstGeom>
          <a:noFill/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2" name="Google Shape;382;p11"/>
          <p:cNvSpPr/>
          <p:nvPr/>
        </p:nvSpPr>
        <p:spPr>
          <a:xfrm>
            <a:off x="731520" y="2926080"/>
            <a:ext cx="4754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1"/>
          <p:cNvSpPr/>
          <p:nvPr/>
        </p:nvSpPr>
        <p:spPr>
          <a:xfrm>
            <a:off x="731520" y="2926080"/>
            <a:ext cx="54864" cy="1645920"/>
          </a:xfrm>
          <a:prstGeom prst="rect">
            <a:avLst/>
          </a:prstGeom>
          <a:solidFill>
            <a:srgbClr val="E76F51"/>
          </a:solidFill>
          <a:ln w="12700" cap="flat" cmpd="sng">
            <a:solidFill>
              <a:srgbClr val="E76F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1"/>
          <p:cNvSpPr/>
          <p:nvPr/>
        </p:nvSpPr>
        <p:spPr>
          <a:xfrm>
            <a:off x="896112" y="3054096"/>
            <a:ext cx="4462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Interpretation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896112" y="3383280"/>
            <a:ext cx="4462272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Train = 1.00 means the tree memorized training data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Test = 0.73 is much lower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80"/>
              <a:buFont typeface="Arial"/>
              <a:buNone/>
            </a:pPr>
            <a:r>
              <a:rPr lang="en-US" sz="10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Large gap = overfitting warning</a:t>
            </a:r>
            <a:endParaRPr sz="10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6263640" y="4160520"/>
            <a:ext cx="4114800" cy="530352"/>
          </a:xfrm>
          <a:prstGeom prst="roundRect">
            <a:avLst>
              <a:gd name="adj" fmla="val 13793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6428232" y="4270248"/>
            <a:ext cx="378561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Goal: not perfect training accuracy. Goal: good performance on unseen customers.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2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10. Pre-Pruning: Stop the Tree Early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Control complexity while the decision tree is being built.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658368" y="987552"/>
            <a:ext cx="5486400" cy="2788920"/>
          </a:xfrm>
          <a:prstGeom prst="roundRect">
            <a:avLst>
              <a:gd name="adj" fmla="val 1967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795528" y="1097280"/>
            <a:ext cx="5212080" cy="2569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param_grid = {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"criterion": ["gini", "entropy"],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"max_depth": range(2, 5),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"min_samples_leaf": range(2, 5),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"min_samples_split": range(2, 5)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90"/>
              <a:buFont typeface="Arial"/>
              <a:buNone/>
            </a:pP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grid = GridSearchCV(tree_model, param_grid, cv=5)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grid.fit(X_train, y_train)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89"/>
              <a:buFont typeface="Consolas"/>
              <a:buNone/>
            </a:pPr>
            <a:r>
              <a:rPr lang="en-US" sz="89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best_tree = grid.best_estimator_</a:t>
            </a:r>
            <a:endParaRPr sz="89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6537960" y="1005840"/>
            <a:ext cx="46177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6537960" y="1005840"/>
            <a:ext cx="54864" cy="246888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6702552" y="1133856"/>
            <a:ext cx="43251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Terms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6702552" y="1463040"/>
            <a:ext cx="4325112" cy="1938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max_depth: maximum tree levels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min_samples_leaf: minimum samples at a final leaf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min_samples_split: minimum samples before splitting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80"/>
              <a:buFont typeface="Arial"/>
              <a:buNone/>
            </a:pPr>
            <a:r>
              <a:rPr lang="en-US" sz="9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GridSearchCV: tries combinations using cross-validation</a:t>
            </a:r>
            <a:endParaRPr sz="9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914400" y="4754880"/>
            <a:ext cx="10149840" cy="658368"/>
          </a:xfrm>
          <a:prstGeom prst="roundRect">
            <a:avLst>
              <a:gd name="adj" fmla="val 11111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1078992" y="4864608"/>
            <a:ext cx="9820656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Example result: Train accuracy may drop from 1.00 to 0.84, while test accuracy can improve from 0.73 to 0.80.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2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11. Post-Pruning: ccp_alpha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Grow a tree, then remove branches that are not worth the complexity.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640080" y="987552"/>
            <a:ext cx="5989320" cy="2788920"/>
          </a:xfrm>
          <a:prstGeom prst="roundRect">
            <a:avLst>
              <a:gd name="adj" fmla="val 1967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"/>
          <p:cNvSpPr/>
          <p:nvPr/>
        </p:nvSpPr>
        <p:spPr>
          <a:xfrm>
            <a:off x="777240" y="1097280"/>
            <a:ext cx="5715000" cy="2569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nsolas"/>
              <a:buNone/>
            </a:pPr>
            <a:r>
              <a:rPr lang="en-US" sz="83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path = tree_model.cost_complexity_pruning_path(X_train, y_train)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nsolas"/>
              <a:buNone/>
            </a:pPr>
            <a:r>
              <a:rPr lang="en-US" sz="83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ccp_alphas = path.ccp_alphas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0"/>
              <a:buFont typeface="Arial"/>
              <a:buNone/>
            </a:pP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nsolas"/>
              <a:buNone/>
            </a:pPr>
            <a:r>
              <a:rPr lang="en-US" sz="83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for alpha in ccp_alphas: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nsolas"/>
              <a:buNone/>
            </a:pPr>
            <a:r>
              <a:rPr lang="en-US" sz="83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model = DecisionTreeClassifier(ccp_alpha=alpha, random_state=42)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nsolas"/>
              <a:buNone/>
            </a:pPr>
            <a:r>
              <a:rPr lang="en-US" sz="83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model.fit(X_train, y_train)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nsolas"/>
              <a:buNone/>
            </a:pPr>
            <a:r>
              <a:rPr lang="en-US" sz="83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train_scores.append(model.score(X_train, y_train))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830"/>
              <a:buFont typeface="Consolas"/>
              <a:buNone/>
            </a:pPr>
            <a:r>
              <a:rPr lang="en-US" sz="83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test_scores.append(model.score(X_test, y_test))</a:t>
            </a:r>
            <a:endParaRPr sz="8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7315200" y="112471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Example pattern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3"/>
          <p:cNvSpPr/>
          <p:nvPr/>
        </p:nvSpPr>
        <p:spPr>
          <a:xfrm>
            <a:off x="7315200" y="1554480"/>
            <a:ext cx="914400" cy="329184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3"/>
          <p:cNvSpPr/>
          <p:nvPr/>
        </p:nvSpPr>
        <p:spPr>
          <a:xfrm>
            <a:off x="7333488" y="1664208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alpha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8229600" y="1554480"/>
            <a:ext cx="914400" cy="329184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3"/>
          <p:cNvSpPr/>
          <p:nvPr/>
        </p:nvSpPr>
        <p:spPr>
          <a:xfrm>
            <a:off x="8247888" y="1664208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3"/>
          <p:cNvSpPr/>
          <p:nvPr/>
        </p:nvSpPr>
        <p:spPr>
          <a:xfrm>
            <a:off x="9144000" y="1554480"/>
            <a:ext cx="914400" cy="329184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9162288" y="1664208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7315200" y="1883664"/>
            <a:ext cx="91440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7333488" y="2020824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0.000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8229600" y="1883664"/>
            <a:ext cx="91440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8247888" y="2020824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9144000" y="1883664"/>
            <a:ext cx="914400" cy="384048"/>
          </a:xfrm>
          <a:prstGeom prst="rect">
            <a:avLst/>
          </a:prstGeom>
          <a:solidFill>
            <a:srgbClr val="F8FAF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3"/>
          <p:cNvSpPr/>
          <p:nvPr/>
        </p:nvSpPr>
        <p:spPr>
          <a:xfrm>
            <a:off x="9162288" y="2020824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0.73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3"/>
          <p:cNvSpPr/>
          <p:nvPr/>
        </p:nvSpPr>
        <p:spPr>
          <a:xfrm>
            <a:off x="7315200" y="2267712"/>
            <a:ext cx="9144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3"/>
          <p:cNvSpPr/>
          <p:nvPr/>
        </p:nvSpPr>
        <p:spPr>
          <a:xfrm>
            <a:off x="7333488" y="2404872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0.003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8229600" y="2267712"/>
            <a:ext cx="9144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3"/>
          <p:cNvSpPr/>
          <p:nvPr/>
        </p:nvSpPr>
        <p:spPr>
          <a:xfrm>
            <a:off x="8247888" y="2404872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0.88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9144000" y="2267712"/>
            <a:ext cx="9144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9162288" y="2404872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0.79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7315200" y="2651760"/>
            <a:ext cx="914400" cy="384048"/>
          </a:xfrm>
          <a:prstGeom prst="rect">
            <a:avLst/>
          </a:prstGeom>
          <a:solidFill>
            <a:srgbClr val="E9F7F5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3"/>
          <p:cNvSpPr/>
          <p:nvPr/>
        </p:nvSpPr>
        <p:spPr>
          <a:xfrm>
            <a:off x="7333488" y="2788920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0.007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8229600" y="2651760"/>
            <a:ext cx="914400" cy="384048"/>
          </a:xfrm>
          <a:prstGeom prst="rect">
            <a:avLst/>
          </a:prstGeom>
          <a:solidFill>
            <a:srgbClr val="E9F7F5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8247888" y="2788920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9144000" y="2651760"/>
            <a:ext cx="914400" cy="384048"/>
          </a:xfrm>
          <a:prstGeom prst="rect">
            <a:avLst/>
          </a:prstGeom>
          <a:solidFill>
            <a:srgbClr val="E9F7F5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3"/>
          <p:cNvSpPr/>
          <p:nvPr/>
        </p:nvSpPr>
        <p:spPr>
          <a:xfrm>
            <a:off x="9162288" y="2788920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7315200" y="3035808"/>
            <a:ext cx="9144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7333488" y="3172968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0.021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8229600" y="3035808"/>
            <a:ext cx="9144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8247888" y="3172968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0.74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3"/>
          <p:cNvSpPr/>
          <p:nvPr/>
        </p:nvSpPr>
        <p:spPr>
          <a:xfrm>
            <a:off x="9144000" y="3035808"/>
            <a:ext cx="914400" cy="38404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3"/>
          <p:cNvSpPr/>
          <p:nvPr/>
        </p:nvSpPr>
        <p:spPr>
          <a:xfrm>
            <a:off x="9162288" y="3172968"/>
            <a:ext cx="877824" cy="73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50"/>
              <a:buFont typeface="Arial"/>
              <a:buNone/>
            </a:pPr>
            <a:r>
              <a:rPr lang="en-US" sz="7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0.73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7315200" y="3630168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Best trade-off: strong test score with smaller gap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868680" y="4892040"/>
            <a:ext cx="10287000" cy="566928"/>
          </a:xfrm>
          <a:prstGeom prst="roundRect">
            <a:avLst>
              <a:gd name="adj" fmla="val 12903"/>
            </a:avLst>
          </a:prstGeom>
          <a:solidFill>
            <a:srgbClr val="FFF4E6"/>
          </a:solidFill>
          <a:ln w="101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1033272" y="5001768"/>
            <a:ext cx="9957816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Interpretation: choose the alpha with strong test score and reasonable train-test gap.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3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4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12. Compare the Three Decision Trees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4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Now we can explain which tree generalized better and why.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4"/>
          <p:cNvSpPr/>
          <p:nvPr/>
        </p:nvSpPr>
        <p:spPr>
          <a:xfrm>
            <a:off x="822960" y="1143000"/>
            <a:ext cx="1828800" cy="402336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4"/>
          <p:cNvSpPr/>
          <p:nvPr/>
        </p:nvSpPr>
        <p:spPr>
          <a:xfrm>
            <a:off x="859536" y="1280160"/>
            <a:ext cx="17556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4"/>
          <p:cNvSpPr/>
          <p:nvPr/>
        </p:nvSpPr>
        <p:spPr>
          <a:xfrm>
            <a:off x="2651760" y="1143000"/>
            <a:ext cx="1234440" cy="402336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4"/>
          <p:cNvSpPr/>
          <p:nvPr/>
        </p:nvSpPr>
        <p:spPr>
          <a:xfrm>
            <a:off x="2688336" y="1280160"/>
            <a:ext cx="11612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 Acc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4"/>
          <p:cNvSpPr/>
          <p:nvPr/>
        </p:nvSpPr>
        <p:spPr>
          <a:xfrm>
            <a:off x="3886200" y="1143000"/>
            <a:ext cx="1234440" cy="402336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4"/>
          <p:cNvSpPr/>
          <p:nvPr/>
        </p:nvSpPr>
        <p:spPr>
          <a:xfrm>
            <a:off x="3922776" y="1280160"/>
            <a:ext cx="116128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 Acc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5120640" y="1143000"/>
            <a:ext cx="960120" cy="402336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5157216" y="1280160"/>
            <a:ext cx="8869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Gap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4"/>
          <p:cNvSpPr/>
          <p:nvPr/>
        </p:nvSpPr>
        <p:spPr>
          <a:xfrm>
            <a:off x="6080760" y="1143000"/>
            <a:ext cx="2971800" cy="402336"/>
          </a:xfrm>
          <a:prstGeom prst="rect">
            <a:avLst/>
          </a:prstGeom>
          <a:solidFill>
            <a:srgbClr val="1F3A5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4"/>
          <p:cNvSpPr/>
          <p:nvPr/>
        </p:nvSpPr>
        <p:spPr>
          <a:xfrm>
            <a:off x="6117336" y="1280160"/>
            <a:ext cx="289864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80"/>
              <a:buFont typeface="Arial"/>
              <a:buNone/>
            </a:pPr>
            <a:r>
              <a:rPr lang="en-US" sz="78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 sz="7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4"/>
          <p:cNvSpPr/>
          <p:nvPr/>
        </p:nvSpPr>
        <p:spPr>
          <a:xfrm>
            <a:off x="822960" y="1545336"/>
            <a:ext cx="1828800" cy="475488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4"/>
          <p:cNvSpPr/>
          <p:nvPr/>
        </p:nvSpPr>
        <p:spPr>
          <a:xfrm>
            <a:off x="868680" y="1709928"/>
            <a:ext cx="17373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Baseline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2651760" y="1545336"/>
            <a:ext cx="1234440" cy="475488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2697480" y="170992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4"/>
          <p:cNvSpPr/>
          <p:nvPr/>
        </p:nvSpPr>
        <p:spPr>
          <a:xfrm>
            <a:off x="3886200" y="1545336"/>
            <a:ext cx="1234440" cy="475488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3931920" y="1709928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4"/>
          <p:cNvSpPr/>
          <p:nvPr/>
        </p:nvSpPr>
        <p:spPr>
          <a:xfrm>
            <a:off x="5120640" y="1545336"/>
            <a:ext cx="960120" cy="475488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4"/>
          <p:cNvSpPr/>
          <p:nvPr/>
        </p:nvSpPr>
        <p:spPr>
          <a:xfrm>
            <a:off x="5166360" y="1709928"/>
            <a:ext cx="8686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0.27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4"/>
          <p:cNvSpPr/>
          <p:nvPr/>
        </p:nvSpPr>
        <p:spPr>
          <a:xfrm>
            <a:off x="6080760" y="1545336"/>
            <a:ext cx="2971800" cy="475488"/>
          </a:xfrm>
          <a:prstGeom prst="rect">
            <a:avLst/>
          </a:prstGeom>
          <a:solidFill>
            <a:srgbClr val="FDEDEC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6126480" y="1709928"/>
            <a:ext cx="28803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Overfitting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4"/>
          <p:cNvSpPr/>
          <p:nvPr/>
        </p:nvSpPr>
        <p:spPr>
          <a:xfrm>
            <a:off x="822960" y="2020824"/>
            <a:ext cx="1828800" cy="475488"/>
          </a:xfrm>
          <a:prstGeom prst="rect">
            <a:avLst/>
          </a:prstGeom>
          <a:solidFill>
            <a:srgbClr val="E9F7F5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4"/>
          <p:cNvSpPr/>
          <p:nvPr/>
        </p:nvSpPr>
        <p:spPr>
          <a:xfrm>
            <a:off x="868680" y="2185416"/>
            <a:ext cx="17373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Pre-Pruned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4"/>
          <p:cNvSpPr/>
          <p:nvPr/>
        </p:nvSpPr>
        <p:spPr>
          <a:xfrm>
            <a:off x="2651760" y="2020824"/>
            <a:ext cx="1234440" cy="475488"/>
          </a:xfrm>
          <a:prstGeom prst="rect">
            <a:avLst/>
          </a:prstGeom>
          <a:solidFill>
            <a:srgbClr val="E9F7F5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2697480" y="2185416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4"/>
          <p:cNvSpPr/>
          <p:nvPr/>
        </p:nvSpPr>
        <p:spPr>
          <a:xfrm>
            <a:off x="3886200" y="2020824"/>
            <a:ext cx="1234440" cy="475488"/>
          </a:xfrm>
          <a:prstGeom prst="rect">
            <a:avLst/>
          </a:prstGeom>
          <a:solidFill>
            <a:srgbClr val="E9F7F5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4"/>
          <p:cNvSpPr/>
          <p:nvPr/>
        </p:nvSpPr>
        <p:spPr>
          <a:xfrm>
            <a:off x="3931920" y="2185416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4"/>
          <p:cNvSpPr/>
          <p:nvPr/>
        </p:nvSpPr>
        <p:spPr>
          <a:xfrm>
            <a:off x="5120640" y="2020824"/>
            <a:ext cx="960120" cy="475488"/>
          </a:xfrm>
          <a:prstGeom prst="rect">
            <a:avLst/>
          </a:prstGeom>
          <a:solidFill>
            <a:srgbClr val="E9F7F5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5166360" y="2185416"/>
            <a:ext cx="8686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0.04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4"/>
          <p:cNvSpPr/>
          <p:nvPr/>
        </p:nvSpPr>
        <p:spPr>
          <a:xfrm>
            <a:off x="6080760" y="2020824"/>
            <a:ext cx="2971800" cy="475488"/>
          </a:xfrm>
          <a:prstGeom prst="rect">
            <a:avLst/>
          </a:prstGeom>
          <a:solidFill>
            <a:srgbClr val="E9F7F5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4"/>
          <p:cNvSpPr/>
          <p:nvPr/>
        </p:nvSpPr>
        <p:spPr>
          <a:xfrm>
            <a:off x="6126480" y="2185416"/>
            <a:ext cx="28803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Better generalization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4"/>
          <p:cNvSpPr/>
          <p:nvPr/>
        </p:nvSpPr>
        <p:spPr>
          <a:xfrm>
            <a:off x="822960" y="2496312"/>
            <a:ext cx="182880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868680" y="2660904"/>
            <a:ext cx="17373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Post-Pruned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4"/>
          <p:cNvSpPr/>
          <p:nvPr/>
        </p:nvSpPr>
        <p:spPr>
          <a:xfrm>
            <a:off x="2651760" y="2496312"/>
            <a:ext cx="123444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4"/>
          <p:cNvSpPr/>
          <p:nvPr/>
        </p:nvSpPr>
        <p:spPr>
          <a:xfrm>
            <a:off x="2697480" y="2660904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3886200" y="2496312"/>
            <a:ext cx="123444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4"/>
          <p:cNvSpPr/>
          <p:nvPr/>
        </p:nvSpPr>
        <p:spPr>
          <a:xfrm>
            <a:off x="3931920" y="2660904"/>
            <a:ext cx="114300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0.79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4"/>
          <p:cNvSpPr/>
          <p:nvPr/>
        </p:nvSpPr>
        <p:spPr>
          <a:xfrm>
            <a:off x="5120640" y="2496312"/>
            <a:ext cx="96012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5166360" y="2660904"/>
            <a:ext cx="86868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0.03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6080760" y="2496312"/>
            <a:ext cx="2971800" cy="475488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6126480" y="2660904"/>
            <a:ext cx="288036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60"/>
              <a:buFont typeface="Arial"/>
              <a:buNone/>
            </a:pPr>
            <a:r>
              <a:rPr lang="en-US" sz="86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Simpler model</a:t>
            </a:r>
            <a:endParaRPr sz="8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822960" y="3886200"/>
            <a:ext cx="452628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4"/>
          <p:cNvSpPr/>
          <p:nvPr/>
        </p:nvSpPr>
        <p:spPr>
          <a:xfrm>
            <a:off x="822960" y="3886200"/>
            <a:ext cx="54864" cy="160020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987552" y="4014216"/>
            <a:ext cx="4233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987552" y="4343400"/>
            <a:ext cx="423367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Baseline is too complex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Pre-pruning improves test accuracy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Post-pruning produces a simpler tree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Choose based on test score + gap + business metric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5715000" y="3886200"/>
            <a:ext cx="45720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5715000" y="3886200"/>
            <a:ext cx="54864" cy="160020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4"/>
          <p:cNvSpPr/>
          <p:nvPr/>
        </p:nvSpPr>
        <p:spPr>
          <a:xfrm>
            <a:off x="5879592" y="4014216"/>
            <a:ext cx="42793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How to say it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4"/>
          <p:cNvSpPr/>
          <p:nvPr/>
        </p:nvSpPr>
        <p:spPr>
          <a:xfrm>
            <a:off x="5879592" y="4343400"/>
            <a:ext cx="4279392" cy="1069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100"/>
              <a:buFont typeface="Arial"/>
              <a:buNone/>
            </a:pPr>
            <a:r>
              <a:rPr lang="en-US" sz="110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The pruned tree is less perfect on training data, but more useful for real customers because it generalizes better.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4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5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13. Random Forest: Bagging + Feature Importance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5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Several trees vote together, reducing dependence on one unstable tree.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5"/>
          <p:cNvSpPr/>
          <p:nvPr/>
        </p:nvSpPr>
        <p:spPr>
          <a:xfrm>
            <a:off x="685800" y="987552"/>
            <a:ext cx="5074920" cy="2057400"/>
          </a:xfrm>
          <a:prstGeom prst="roundRect">
            <a:avLst>
              <a:gd name="adj" fmla="val 2667"/>
            </a:avLst>
          </a:prstGeom>
          <a:solidFill>
            <a:srgbClr val="F1F5F9"/>
          </a:solidFill>
          <a:ln w="95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822960" y="1097280"/>
            <a:ext cx="4800600" cy="1837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nsolas"/>
              <a:buNone/>
            </a:pPr>
            <a:r>
              <a:rPr lang="en-US" sz="9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rf_model = RandomForestClassifier(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nsolas"/>
              <a:buNone/>
            </a:pPr>
            <a:r>
              <a:rPr lang="en-US" sz="9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n_estimators=100,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nsolas"/>
              <a:buNone/>
            </a:pPr>
            <a:r>
              <a:rPr lang="en-US" sz="9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    random_state=42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nsolas"/>
              <a:buNone/>
            </a:pPr>
            <a:r>
              <a:rPr lang="en-US" sz="9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nsolas"/>
              <a:buNone/>
            </a:pPr>
            <a:r>
              <a:rPr lang="en-US" sz="9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rf_model.fit(X_train, y_train)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nsolas"/>
              <a:buNone/>
            </a:pPr>
            <a:r>
              <a:rPr lang="en-US" sz="9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rf_predictions = rf_model.predict(X_test)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Consolas"/>
              <a:buNone/>
            </a:pPr>
            <a:r>
              <a:rPr lang="en-US" sz="960" b="0" i="0" u="none" strike="noStrike" cap="none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rPr>
              <a:t>importances = rf_model.feature_importances_</a:t>
            </a:r>
            <a:endParaRPr sz="9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6400800" y="1051560"/>
            <a:ext cx="749808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6400800" y="1161288"/>
            <a:ext cx="74980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Tree 1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5"/>
          <p:cNvSpPr/>
          <p:nvPr/>
        </p:nvSpPr>
        <p:spPr>
          <a:xfrm>
            <a:off x="7360920" y="1051560"/>
            <a:ext cx="749808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7360920" y="1161288"/>
            <a:ext cx="74980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Tree 2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8321040" y="1051560"/>
            <a:ext cx="749808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8321040" y="1161288"/>
            <a:ext cx="74980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Tree 3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5"/>
          <p:cNvSpPr/>
          <p:nvPr/>
        </p:nvSpPr>
        <p:spPr>
          <a:xfrm>
            <a:off x="6400800" y="1737360"/>
            <a:ext cx="749808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6400800" y="1847088"/>
            <a:ext cx="74980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Tree 4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5"/>
          <p:cNvSpPr/>
          <p:nvPr/>
        </p:nvSpPr>
        <p:spPr>
          <a:xfrm>
            <a:off x="7360920" y="1737360"/>
            <a:ext cx="749808" cy="347472"/>
          </a:xfrm>
          <a:prstGeom prst="roundRect">
            <a:avLst>
              <a:gd name="adj" fmla="val 13158"/>
            </a:avLst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7360920" y="1847088"/>
            <a:ext cx="74980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20"/>
              <a:buFont typeface="Arial"/>
              <a:buNone/>
            </a:pPr>
            <a:r>
              <a:rPr lang="en-US" sz="7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Tree 5</a:t>
            </a:r>
            <a:endParaRPr sz="7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4" name="Google Shape;524;p15"/>
          <p:cNvCxnSpPr/>
          <p:nvPr/>
        </p:nvCxnSpPr>
        <p:spPr>
          <a:xfrm>
            <a:off x="9372600" y="1444752"/>
            <a:ext cx="685800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25" name="Google Shape;525;p15"/>
          <p:cNvSpPr/>
          <p:nvPr/>
        </p:nvSpPr>
        <p:spPr>
          <a:xfrm>
            <a:off x="10149840" y="1225296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EAF3FF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10149840" y="1371600"/>
            <a:ext cx="96012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Vote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6355080" y="2743200"/>
            <a:ext cx="47548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6355080" y="2743200"/>
            <a:ext cx="54864" cy="16459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6519672" y="2871216"/>
            <a:ext cx="4462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importance example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5"/>
          <p:cNvSpPr/>
          <p:nvPr/>
        </p:nvSpPr>
        <p:spPr>
          <a:xfrm>
            <a:off x="6519672" y="3200400"/>
            <a:ext cx="4462272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tenure: 0.18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TotalCharges: 0.15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MonthlyCharges: 0.14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Contract_Month-to-month: 0.12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868680" y="5166360"/>
            <a:ext cx="10195560" cy="621792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 w="101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1033272" y="5276088"/>
            <a:ext cx="986637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Business meaning: important features help managers understand what factors are connected to churn risk. Importance is not proof of causation.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5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16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14. Boosting Models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Boosting builds models sequentially: each new model focuses on previous errors.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6"/>
          <p:cNvSpPr/>
          <p:nvPr/>
        </p:nvSpPr>
        <p:spPr>
          <a:xfrm>
            <a:off x="731520" y="1207008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6"/>
          <p:cNvSpPr/>
          <p:nvPr/>
        </p:nvSpPr>
        <p:spPr>
          <a:xfrm>
            <a:off x="758952" y="1362456"/>
            <a:ext cx="11155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 1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p16"/>
          <p:cNvCxnSpPr/>
          <p:nvPr/>
        </p:nvCxnSpPr>
        <p:spPr>
          <a:xfrm>
            <a:off x="1938528" y="1435608"/>
            <a:ext cx="466344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4" name="Google Shape;544;p16"/>
          <p:cNvSpPr/>
          <p:nvPr/>
        </p:nvSpPr>
        <p:spPr>
          <a:xfrm>
            <a:off x="2514600" y="1207008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6"/>
          <p:cNvSpPr/>
          <p:nvPr/>
        </p:nvSpPr>
        <p:spPr>
          <a:xfrm>
            <a:off x="2542032" y="1362456"/>
            <a:ext cx="11155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Errors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6" name="Google Shape;546;p16"/>
          <p:cNvCxnSpPr/>
          <p:nvPr/>
        </p:nvCxnSpPr>
        <p:spPr>
          <a:xfrm>
            <a:off x="3721608" y="1435608"/>
            <a:ext cx="466344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47" name="Google Shape;547;p16"/>
          <p:cNvSpPr/>
          <p:nvPr/>
        </p:nvSpPr>
        <p:spPr>
          <a:xfrm>
            <a:off x="4297680" y="1207008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6"/>
          <p:cNvSpPr/>
          <p:nvPr/>
        </p:nvSpPr>
        <p:spPr>
          <a:xfrm>
            <a:off x="4325112" y="1362456"/>
            <a:ext cx="11155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 2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9" name="Google Shape;549;p16"/>
          <p:cNvCxnSpPr/>
          <p:nvPr/>
        </p:nvCxnSpPr>
        <p:spPr>
          <a:xfrm>
            <a:off x="5504688" y="1435608"/>
            <a:ext cx="466344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0" name="Google Shape;550;p16"/>
          <p:cNvSpPr/>
          <p:nvPr/>
        </p:nvSpPr>
        <p:spPr>
          <a:xfrm>
            <a:off x="6080760" y="1207008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6"/>
          <p:cNvSpPr/>
          <p:nvPr/>
        </p:nvSpPr>
        <p:spPr>
          <a:xfrm>
            <a:off x="6108192" y="1362456"/>
            <a:ext cx="11155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Errors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2" name="Google Shape;552;p16"/>
          <p:cNvCxnSpPr/>
          <p:nvPr/>
        </p:nvCxnSpPr>
        <p:spPr>
          <a:xfrm>
            <a:off x="7287768" y="1435608"/>
            <a:ext cx="466344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3" name="Google Shape;553;p16"/>
          <p:cNvSpPr/>
          <p:nvPr/>
        </p:nvSpPr>
        <p:spPr>
          <a:xfrm>
            <a:off x="7863840" y="1207008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E9F7F5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6"/>
          <p:cNvSpPr/>
          <p:nvPr/>
        </p:nvSpPr>
        <p:spPr>
          <a:xfrm>
            <a:off x="7891272" y="1362456"/>
            <a:ext cx="11155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 3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5" name="Google Shape;555;p16"/>
          <p:cNvCxnSpPr/>
          <p:nvPr/>
        </p:nvCxnSpPr>
        <p:spPr>
          <a:xfrm>
            <a:off x="9070848" y="1435608"/>
            <a:ext cx="466344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6" name="Google Shape;556;p16"/>
          <p:cNvSpPr/>
          <p:nvPr/>
        </p:nvSpPr>
        <p:spPr>
          <a:xfrm>
            <a:off x="9646920" y="1207008"/>
            <a:ext cx="1170432" cy="4572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6"/>
          <p:cNvSpPr/>
          <p:nvPr/>
        </p:nvSpPr>
        <p:spPr>
          <a:xfrm>
            <a:off x="9674352" y="1362456"/>
            <a:ext cx="1115568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740"/>
              <a:buFont typeface="Arial"/>
              <a:buNone/>
            </a:pPr>
            <a:r>
              <a:rPr lang="en-US" sz="74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Final prediction</a:t>
            </a:r>
            <a:endParaRPr sz="74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6"/>
          <p:cNvSpPr/>
          <p:nvPr/>
        </p:nvSpPr>
        <p:spPr>
          <a:xfrm>
            <a:off x="777240" y="274320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6"/>
          <p:cNvSpPr/>
          <p:nvPr/>
        </p:nvSpPr>
        <p:spPr>
          <a:xfrm>
            <a:off x="777240" y="2743200"/>
            <a:ext cx="54864" cy="68580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6"/>
          <p:cNvSpPr/>
          <p:nvPr/>
        </p:nvSpPr>
        <p:spPr>
          <a:xfrm>
            <a:off x="941832" y="2871216"/>
            <a:ext cx="44165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AdaBoost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6"/>
          <p:cNvSpPr/>
          <p:nvPr/>
        </p:nvSpPr>
        <p:spPr>
          <a:xfrm>
            <a:off x="941832" y="3200400"/>
            <a:ext cx="4416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increases weight of misclassified samples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6"/>
          <p:cNvSpPr/>
          <p:nvPr/>
        </p:nvSpPr>
        <p:spPr>
          <a:xfrm>
            <a:off x="6080760" y="274320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6"/>
          <p:cNvSpPr/>
          <p:nvPr/>
        </p:nvSpPr>
        <p:spPr>
          <a:xfrm>
            <a:off x="6080760" y="2743200"/>
            <a:ext cx="54864" cy="68580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6"/>
          <p:cNvSpPr/>
          <p:nvPr/>
        </p:nvSpPr>
        <p:spPr>
          <a:xfrm>
            <a:off x="6245352" y="2871216"/>
            <a:ext cx="44165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6"/>
          <p:cNvSpPr/>
          <p:nvPr/>
        </p:nvSpPr>
        <p:spPr>
          <a:xfrm>
            <a:off x="6245352" y="3200400"/>
            <a:ext cx="4416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learns remaining errors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16"/>
          <p:cNvSpPr/>
          <p:nvPr/>
        </p:nvSpPr>
        <p:spPr>
          <a:xfrm>
            <a:off x="777240" y="379476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6"/>
          <p:cNvSpPr/>
          <p:nvPr/>
        </p:nvSpPr>
        <p:spPr>
          <a:xfrm>
            <a:off x="777240" y="3794760"/>
            <a:ext cx="54864" cy="685800"/>
          </a:xfrm>
          <a:prstGeom prst="rect">
            <a:avLst/>
          </a:prstGeom>
          <a:solidFill>
            <a:srgbClr val="E76F51"/>
          </a:solidFill>
          <a:ln w="12700" cap="flat" cmpd="sng">
            <a:solidFill>
              <a:srgbClr val="E76F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6"/>
          <p:cNvSpPr/>
          <p:nvPr/>
        </p:nvSpPr>
        <p:spPr>
          <a:xfrm>
            <a:off x="941832" y="3922776"/>
            <a:ext cx="44165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6"/>
          <p:cNvSpPr/>
          <p:nvPr/>
        </p:nvSpPr>
        <p:spPr>
          <a:xfrm>
            <a:off x="941832" y="4251960"/>
            <a:ext cx="4416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optimized gradient boosting with regularization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6"/>
          <p:cNvSpPr/>
          <p:nvPr/>
        </p:nvSpPr>
        <p:spPr>
          <a:xfrm>
            <a:off x="6080760" y="3794760"/>
            <a:ext cx="4709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6"/>
          <p:cNvSpPr/>
          <p:nvPr/>
        </p:nvSpPr>
        <p:spPr>
          <a:xfrm>
            <a:off x="6080760" y="3794760"/>
            <a:ext cx="54864" cy="685800"/>
          </a:xfrm>
          <a:prstGeom prst="rect">
            <a:avLst/>
          </a:prstGeom>
          <a:solidFill>
            <a:srgbClr val="6C63FF"/>
          </a:solidFill>
          <a:ln w="12700" cap="flat" cmpd="sng">
            <a:solidFill>
              <a:srgbClr val="6C63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6"/>
          <p:cNvSpPr/>
          <p:nvPr/>
        </p:nvSpPr>
        <p:spPr>
          <a:xfrm>
            <a:off x="6245352" y="3922776"/>
            <a:ext cx="44165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LightGBM</a:t>
            </a:r>
            <a:endParaRPr sz="13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6"/>
          <p:cNvSpPr/>
          <p:nvPr/>
        </p:nvSpPr>
        <p:spPr>
          <a:xfrm>
            <a:off x="6245352" y="4251960"/>
            <a:ext cx="4416552" cy="155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950"/>
              <a:buFont typeface="Arial"/>
              <a:buNone/>
            </a:pPr>
            <a:r>
              <a:rPr lang="en-US" sz="9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fast gradient boosting for large datasets</a:t>
            </a:r>
            <a:endParaRPr sz="9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6"/>
          <p:cNvSpPr/>
          <p:nvPr/>
        </p:nvSpPr>
        <p:spPr>
          <a:xfrm>
            <a:off x="868680" y="562356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6"/>
          <p:cNvSpPr/>
          <p:nvPr/>
        </p:nvSpPr>
        <p:spPr>
          <a:xfrm>
            <a:off x="1033272" y="5733288"/>
            <a:ext cx="9820656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50"/>
              <a:buFont typeface="Arial"/>
              <a:buNone/>
            </a:pPr>
            <a:r>
              <a:rPr lang="en-US" sz="11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Practical meaning: boosting can improve performance, but it may overfit if we do not check train-test gap.</a:t>
            </a:r>
            <a:endParaRPr sz="11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6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7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15. Final Model Comparison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7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Use one table to compare performance and explain the trade-offs.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17"/>
          <p:cNvSpPr/>
          <p:nvPr/>
        </p:nvSpPr>
        <p:spPr>
          <a:xfrm>
            <a:off x="502925" y="1051550"/>
            <a:ext cx="2563800" cy="437700"/>
          </a:xfrm>
          <a:prstGeom prst="rect">
            <a:avLst/>
          </a:prstGeom>
          <a:solidFill>
            <a:srgbClr val="1F3A5F"/>
          </a:solidFill>
          <a:ln w="130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7"/>
          <p:cNvSpPr/>
          <p:nvPr/>
        </p:nvSpPr>
        <p:spPr>
          <a:xfrm>
            <a:off x="540447" y="1195386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2"/>
              <a:buFont typeface="Arial"/>
              <a:buNone/>
            </a:pPr>
            <a:r>
              <a:rPr lang="en-US" sz="862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8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7"/>
          <p:cNvSpPr/>
          <p:nvPr/>
        </p:nvSpPr>
        <p:spPr>
          <a:xfrm>
            <a:off x="3066946" y="1051550"/>
            <a:ext cx="1313400" cy="437700"/>
          </a:xfrm>
          <a:prstGeom prst="rect">
            <a:avLst/>
          </a:prstGeom>
          <a:solidFill>
            <a:srgbClr val="1F3A5F"/>
          </a:solidFill>
          <a:ln w="130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7"/>
          <p:cNvSpPr/>
          <p:nvPr/>
        </p:nvSpPr>
        <p:spPr>
          <a:xfrm>
            <a:off x="3104468" y="1195386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2"/>
              <a:buFont typeface="Arial"/>
              <a:buNone/>
            </a:pPr>
            <a:r>
              <a:rPr lang="en-US" sz="862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8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7"/>
          <p:cNvSpPr/>
          <p:nvPr/>
        </p:nvSpPr>
        <p:spPr>
          <a:xfrm>
            <a:off x="4380224" y="1051550"/>
            <a:ext cx="1250700" cy="437700"/>
          </a:xfrm>
          <a:prstGeom prst="rect">
            <a:avLst/>
          </a:prstGeom>
          <a:solidFill>
            <a:srgbClr val="1F3A5F"/>
          </a:solidFill>
          <a:ln w="130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7"/>
          <p:cNvSpPr/>
          <p:nvPr/>
        </p:nvSpPr>
        <p:spPr>
          <a:xfrm>
            <a:off x="4417747" y="1195386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2"/>
              <a:buFont typeface="Arial"/>
              <a:buNone/>
            </a:pPr>
            <a:r>
              <a:rPr lang="en-US" sz="862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sz="8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7"/>
          <p:cNvSpPr/>
          <p:nvPr/>
        </p:nvSpPr>
        <p:spPr>
          <a:xfrm>
            <a:off x="5630966" y="1051550"/>
            <a:ext cx="1188300" cy="437700"/>
          </a:xfrm>
          <a:prstGeom prst="rect">
            <a:avLst/>
          </a:prstGeom>
          <a:solidFill>
            <a:srgbClr val="1F3A5F"/>
          </a:solidFill>
          <a:ln w="130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7"/>
          <p:cNvSpPr/>
          <p:nvPr/>
        </p:nvSpPr>
        <p:spPr>
          <a:xfrm>
            <a:off x="5668488" y="1195386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2"/>
              <a:buFont typeface="Arial"/>
              <a:buNone/>
            </a:pPr>
            <a:r>
              <a:rPr lang="en-US" sz="862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Gap</a:t>
            </a:r>
            <a:endParaRPr sz="8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7"/>
          <p:cNvSpPr/>
          <p:nvPr/>
        </p:nvSpPr>
        <p:spPr>
          <a:xfrm>
            <a:off x="6819171" y="1051550"/>
            <a:ext cx="1563300" cy="437700"/>
          </a:xfrm>
          <a:prstGeom prst="rect">
            <a:avLst/>
          </a:prstGeom>
          <a:solidFill>
            <a:srgbClr val="1F3A5F"/>
          </a:solidFill>
          <a:ln w="130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7"/>
          <p:cNvSpPr/>
          <p:nvPr/>
        </p:nvSpPr>
        <p:spPr>
          <a:xfrm>
            <a:off x="6856693" y="1195386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2"/>
              <a:buFont typeface="Arial"/>
              <a:buNone/>
            </a:pPr>
            <a:r>
              <a:rPr lang="en-US" sz="862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Churn Prec.</a:t>
            </a:r>
            <a:endParaRPr sz="8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7"/>
          <p:cNvSpPr/>
          <p:nvPr/>
        </p:nvSpPr>
        <p:spPr>
          <a:xfrm>
            <a:off x="8382598" y="1051550"/>
            <a:ext cx="1563300" cy="437700"/>
          </a:xfrm>
          <a:prstGeom prst="rect">
            <a:avLst/>
          </a:prstGeom>
          <a:solidFill>
            <a:srgbClr val="1F3A5F"/>
          </a:solidFill>
          <a:ln w="130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7"/>
          <p:cNvSpPr/>
          <p:nvPr/>
        </p:nvSpPr>
        <p:spPr>
          <a:xfrm>
            <a:off x="8420120" y="1195386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2"/>
              <a:buFont typeface="Arial"/>
              <a:buNone/>
            </a:pPr>
            <a:r>
              <a:rPr lang="en-US" sz="862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Churn Rec.</a:t>
            </a:r>
            <a:endParaRPr sz="8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7"/>
          <p:cNvSpPr/>
          <p:nvPr/>
        </p:nvSpPr>
        <p:spPr>
          <a:xfrm>
            <a:off x="9946025" y="1051550"/>
            <a:ext cx="1438200" cy="437700"/>
          </a:xfrm>
          <a:prstGeom prst="rect">
            <a:avLst/>
          </a:prstGeom>
          <a:solidFill>
            <a:srgbClr val="1F3A5F"/>
          </a:solidFill>
          <a:ln w="130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7"/>
          <p:cNvSpPr/>
          <p:nvPr/>
        </p:nvSpPr>
        <p:spPr>
          <a:xfrm>
            <a:off x="9983548" y="1195386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62"/>
              <a:buFont typeface="Arial"/>
              <a:buNone/>
            </a:pPr>
            <a:r>
              <a:rPr lang="en-US" sz="862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Churn F1</a:t>
            </a:r>
            <a:endParaRPr sz="862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7"/>
          <p:cNvSpPr/>
          <p:nvPr/>
        </p:nvSpPr>
        <p:spPr>
          <a:xfrm>
            <a:off x="502925" y="1489311"/>
            <a:ext cx="25638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540447" y="1664415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Baseline Tree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3066946" y="1489311"/>
            <a:ext cx="13134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7"/>
          <p:cNvSpPr/>
          <p:nvPr/>
        </p:nvSpPr>
        <p:spPr>
          <a:xfrm>
            <a:off x="3104468" y="1664415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7"/>
          <p:cNvSpPr/>
          <p:nvPr/>
        </p:nvSpPr>
        <p:spPr>
          <a:xfrm>
            <a:off x="4380224" y="1489311"/>
            <a:ext cx="12507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7"/>
          <p:cNvSpPr/>
          <p:nvPr/>
        </p:nvSpPr>
        <p:spPr>
          <a:xfrm>
            <a:off x="4417747" y="1664415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0.73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7"/>
          <p:cNvSpPr/>
          <p:nvPr/>
        </p:nvSpPr>
        <p:spPr>
          <a:xfrm>
            <a:off x="5630966" y="1489311"/>
            <a:ext cx="1188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7"/>
          <p:cNvSpPr/>
          <p:nvPr/>
        </p:nvSpPr>
        <p:spPr>
          <a:xfrm>
            <a:off x="5668488" y="1664415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0.27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7"/>
          <p:cNvSpPr/>
          <p:nvPr/>
        </p:nvSpPr>
        <p:spPr>
          <a:xfrm>
            <a:off x="6819171" y="1489311"/>
            <a:ext cx="1563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7"/>
          <p:cNvSpPr/>
          <p:nvPr/>
        </p:nvSpPr>
        <p:spPr>
          <a:xfrm>
            <a:off x="6856693" y="1664415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0.46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7"/>
          <p:cNvSpPr/>
          <p:nvPr/>
        </p:nvSpPr>
        <p:spPr>
          <a:xfrm>
            <a:off x="8382598" y="1489311"/>
            <a:ext cx="1563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7"/>
          <p:cNvSpPr/>
          <p:nvPr/>
        </p:nvSpPr>
        <p:spPr>
          <a:xfrm>
            <a:off x="8420120" y="1664415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0.52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7"/>
          <p:cNvSpPr/>
          <p:nvPr/>
        </p:nvSpPr>
        <p:spPr>
          <a:xfrm>
            <a:off x="9946025" y="1489311"/>
            <a:ext cx="14382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7"/>
          <p:cNvSpPr/>
          <p:nvPr/>
        </p:nvSpPr>
        <p:spPr>
          <a:xfrm>
            <a:off x="9983548" y="1664415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0.49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7"/>
          <p:cNvSpPr/>
          <p:nvPr/>
        </p:nvSpPr>
        <p:spPr>
          <a:xfrm>
            <a:off x="502925" y="2014623"/>
            <a:ext cx="25638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7"/>
          <p:cNvSpPr/>
          <p:nvPr/>
        </p:nvSpPr>
        <p:spPr>
          <a:xfrm>
            <a:off x="540447" y="2189728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Pre-Pruned Tree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7"/>
          <p:cNvSpPr/>
          <p:nvPr/>
        </p:nvSpPr>
        <p:spPr>
          <a:xfrm>
            <a:off x="3066946" y="2014623"/>
            <a:ext cx="13134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3104468" y="2189728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0.84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7"/>
          <p:cNvSpPr/>
          <p:nvPr/>
        </p:nvSpPr>
        <p:spPr>
          <a:xfrm>
            <a:off x="4380224" y="2014623"/>
            <a:ext cx="12507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p17"/>
          <p:cNvSpPr/>
          <p:nvPr/>
        </p:nvSpPr>
        <p:spPr>
          <a:xfrm>
            <a:off x="4417747" y="2189728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5630966" y="2014623"/>
            <a:ext cx="1188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7"/>
          <p:cNvSpPr/>
          <p:nvPr/>
        </p:nvSpPr>
        <p:spPr>
          <a:xfrm>
            <a:off x="5668488" y="2189728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0.04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7"/>
          <p:cNvSpPr/>
          <p:nvPr/>
        </p:nvSpPr>
        <p:spPr>
          <a:xfrm>
            <a:off x="6819171" y="2014623"/>
            <a:ext cx="1563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7"/>
          <p:cNvSpPr/>
          <p:nvPr/>
        </p:nvSpPr>
        <p:spPr>
          <a:xfrm>
            <a:off x="6856693" y="2189728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0.64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17"/>
          <p:cNvSpPr/>
          <p:nvPr/>
        </p:nvSpPr>
        <p:spPr>
          <a:xfrm>
            <a:off x="8382598" y="2014623"/>
            <a:ext cx="1563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7"/>
          <p:cNvSpPr/>
          <p:nvPr/>
        </p:nvSpPr>
        <p:spPr>
          <a:xfrm>
            <a:off x="8420120" y="2189728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0.56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17"/>
          <p:cNvSpPr/>
          <p:nvPr/>
        </p:nvSpPr>
        <p:spPr>
          <a:xfrm>
            <a:off x="9946025" y="2014623"/>
            <a:ext cx="14382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7"/>
          <p:cNvSpPr/>
          <p:nvPr/>
        </p:nvSpPr>
        <p:spPr>
          <a:xfrm>
            <a:off x="9983548" y="2189728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17"/>
          <p:cNvSpPr/>
          <p:nvPr/>
        </p:nvSpPr>
        <p:spPr>
          <a:xfrm>
            <a:off x="502925" y="2539936"/>
            <a:ext cx="25638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7"/>
          <p:cNvSpPr/>
          <p:nvPr/>
        </p:nvSpPr>
        <p:spPr>
          <a:xfrm>
            <a:off x="540447" y="2715040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Post-Pruned Tree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17"/>
          <p:cNvSpPr/>
          <p:nvPr/>
        </p:nvSpPr>
        <p:spPr>
          <a:xfrm>
            <a:off x="3066946" y="2539936"/>
            <a:ext cx="13134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7"/>
          <p:cNvSpPr/>
          <p:nvPr/>
        </p:nvSpPr>
        <p:spPr>
          <a:xfrm>
            <a:off x="3104468" y="2715040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7"/>
          <p:cNvSpPr/>
          <p:nvPr/>
        </p:nvSpPr>
        <p:spPr>
          <a:xfrm>
            <a:off x="4380224" y="2539936"/>
            <a:ext cx="12507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7"/>
          <p:cNvSpPr/>
          <p:nvPr/>
        </p:nvSpPr>
        <p:spPr>
          <a:xfrm>
            <a:off x="4417747" y="2715040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0.79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17"/>
          <p:cNvSpPr/>
          <p:nvPr/>
        </p:nvSpPr>
        <p:spPr>
          <a:xfrm>
            <a:off x="5630966" y="2539936"/>
            <a:ext cx="1188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7"/>
          <p:cNvSpPr/>
          <p:nvPr/>
        </p:nvSpPr>
        <p:spPr>
          <a:xfrm>
            <a:off x="5668488" y="2715040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0.03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17"/>
          <p:cNvSpPr/>
          <p:nvPr/>
        </p:nvSpPr>
        <p:spPr>
          <a:xfrm>
            <a:off x="6819171" y="2539936"/>
            <a:ext cx="1563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7"/>
          <p:cNvSpPr/>
          <p:nvPr/>
        </p:nvSpPr>
        <p:spPr>
          <a:xfrm>
            <a:off x="6856693" y="2715040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0.61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17"/>
          <p:cNvSpPr/>
          <p:nvPr/>
        </p:nvSpPr>
        <p:spPr>
          <a:xfrm>
            <a:off x="8382598" y="2539936"/>
            <a:ext cx="1563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7"/>
          <p:cNvSpPr/>
          <p:nvPr/>
        </p:nvSpPr>
        <p:spPr>
          <a:xfrm>
            <a:off x="8420120" y="2715040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0.58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17"/>
          <p:cNvSpPr/>
          <p:nvPr/>
        </p:nvSpPr>
        <p:spPr>
          <a:xfrm>
            <a:off x="9946025" y="2539936"/>
            <a:ext cx="14382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7"/>
          <p:cNvSpPr/>
          <p:nvPr/>
        </p:nvSpPr>
        <p:spPr>
          <a:xfrm>
            <a:off x="9983548" y="2715040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17"/>
          <p:cNvSpPr/>
          <p:nvPr/>
        </p:nvSpPr>
        <p:spPr>
          <a:xfrm>
            <a:off x="502925" y="3065249"/>
            <a:ext cx="25638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7"/>
          <p:cNvSpPr/>
          <p:nvPr/>
        </p:nvSpPr>
        <p:spPr>
          <a:xfrm>
            <a:off x="540447" y="3240353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Random Forest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17"/>
          <p:cNvSpPr/>
          <p:nvPr/>
        </p:nvSpPr>
        <p:spPr>
          <a:xfrm>
            <a:off x="3066946" y="3065249"/>
            <a:ext cx="13134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7"/>
          <p:cNvSpPr/>
          <p:nvPr/>
        </p:nvSpPr>
        <p:spPr>
          <a:xfrm>
            <a:off x="3104468" y="3240353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0.90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17"/>
          <p:cNvSpPr/>
          <p:nvPr/>
        </p:nvSpPr>
        <p:spPr>
          <a:xfrm>
            <a:off x="4380224" y="3065249"/>
            <a:ext cx="12507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7"/>
          <p:cNvSpPr/>
          <p:nvPr/>
        </p:nvSpPr>
        <p:spPr>
          <a:xfrm>
            <a:off x="4417747" y="3240353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17"/>
          <p:cNvSpPr/>
          <p:nvPr/>
        </p:nvSpPr>
        <p:spPr>
          <a:xfrm>
            <a:off x="5630966" y="3065249"/>
            <a:ext cx="1188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7"/>
          <p:cNvSpPr/>
          <p:nvPr/>
        </p:nvSpPr>
        <p:spPr>
          <a:xfrm>
            <a:off x="5668488" y="3240353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0.08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17"/>
          <p:cNvSpPr/>
          <p:nvPr/>
        </p:nvSpPr>
        <p:spPr>
          <a:xfrm>
            <a:off x="6819171" y="3065249"/>
            <a:ext cx="1563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7"/>
          <p:cNvSpPr/>
          <p:nvPr/>
        </p:nvSpPr>
        <p:spPr>
          <a:xfrm>
            <a:off x="6856693" y="3240353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0.66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17"/>
          <p:cNvSpPr/>
          <p:nvPr/>
        </p:nvSpPr>
        <p:spPr>
          <a:xfrm>
            <a:off x="8382598" y="3065249"/>
            <a:ext cx="1563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7"/>
          <p:cNvSpPr/>
          <p:nvPr/>
        </p:nvSpPr>
        <p:spPr>
          <a:xfrm>
            <a:off x="8420120" y="3240353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0.59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2" name="Google Shape;652;p17"/>
          <p:cNvSpPr/>
          <p:nvPr/>
        </p:nvSpPr>
        <p:spPr>
          <a:xfrm>
            <a:off x="9946025" y="3065249"/>
            <a:ext cx="14382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7"/>
          <p:cNvSpPr/>
          <p:nvPr/>
        </p:nvSpPr>
        <p:spPr>
          <a:xfrm>
            <a:off x="9983548" y="3240353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0.62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17"/>
          <p:cNvSpPr/>
          <p:nvPr/>
        </p:nvSpPr>
        <p:spPr>
          <a:xfrm>
            <a:off x="502925" y="3590562"/>
            <a:ext cx="25638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7"/>
          <p:cNvSpPr/>
          <p:nvPr/>
        </p:nvSpPr>
        <p:spPr>
          <a:xfrm>
            <a:off x="540447" y="3765666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AdaBoost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17"/>
          <p:cNvSpPr/>
          <p:nvPr/>
        </p:nvSpPr>
        <p:spPr>
          <a:xfrm>
            <a:off x="3066946" y="3590562"/>
            <a:ext cx="13134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7"/>
          <p:cNvSpPr/>
          <p:nvPr/>
        </p:nvSpPr>
        <p:spPr>
          <a:xfrm>
            <a:off x="3104468" y="3765666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17"/>
          <p:cNvSpPr/>
          <p:nvPr/>
        </p:nvSpPr>
        <p:spPr>
          <a:xfrm>
            <a:off x="4380224" y="3590562"/>
            <a:ext cx="12507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7"/>
          <p:cNvSpPr/>
          <p:nvPr/>
        </p:nvSpPr>
        <p:spPr>
          <a:xfrm>
            <a:off x="4417747" y="3765666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0.80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17"/>
          <p:cNvSpPr/>
          <p:nvPr/>
        </p:nvSpPr>
        <p:spPr>
          <a:xfrm>
            <a:off x="5630966" y="3590562"/>
            <a:ext cx="1188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7"/>
          <p:cNvSpPr/>
          <p:nvPr/>
        </p:nvSpPr>
        <p:spPr>
          <a:xfrm>
            <a:off x="5668488" y="3765666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0.01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17"/>
          <p:cNvSpPr/>
          <p:nvPr/>
        </p:nvSpPr>
        <p:spPr>
          <a:xfrm>
            <a:off x="6819171" y="3590562"/>
            <a:ext cx="1563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17"/>
          <p:cNvSpPr/>
          <p:nvPr/>
        </p:nvSpPr>
        <p:spPr>
          <a:xfrm>
            <a:off x="6856693" y="3765666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0.62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17"/>
          <p:cNvSpPr/>
          <p:nvPr/>
        </p:nvSpPr>
        <p:spPr>
          <a:xfrm>
            <a:off x="8382598" y="3590562"/>
            <a:ext cx="15633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7"/>
          <p:cNvSpPr/>
          <p:nvPr/>
        </p:nvSpPr>
        <p:spPr>
          <a:xfrm>
            <a:off x="8420120" y="3765666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0.60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17"/>
          <p:cNvSpPr/>
          <p:nvPr/>
        </p:nvSpPr>
        <p:spPr>
          <a:xfrm>
            <a:off x="9946025" y="3590562"/>
            <a:ext cx="1438200" cy="525300"/>
          </a:xfrm>
          <a:prstGeom prst="rect">
            <a:avLst/>
          </a:prstGeom>
          <a:solidFill>
            <a:srgbClr val="F8FAFC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7"/>
          <p:cNvSpPr/>
          <p:nvPr/>
        </p:nvSpPr>
        <p:spPr>
          <a:xfrm>
            <a:off x="9983548" y="3765666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0.61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17"/>
          <p:cNvSpPr/>
          <p:nvPr/>
        </p:nvSpPr>
        <p:spPr>
          <a:xfrm>
            <a:off x="502925" y="4115874"/>
            <a:ext cx="25638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7"/>
          <p:cNvSpPr/>
          <p:nvPr/>
        </p:nvSpPr>
        <p:spPr>
          <a:xfrm>
            <a:off x="540447" y="4290979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Gradient Boosting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17"/>
          <p:cNvSpPr/>
          <p:nvPr/>
        </p:nvSpPr>
        <p:spPr>
          <a:xfrm>
            <a:off x="3066946" y="4115874"/>
            <a:ext cx="13134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7"/>
          <p:cNvSpPr/>
          <p:nvPr/>
        </p:nvSpPr>
        <p:spPr>
          <a:xfrm>
            <a:off x="3104468" y="4290979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0.83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17"/>
          <p:cNvSpPr/>
          <p:nvPr/>
        </p:nvSpPr>
        <p:spPr>
          <a:xfrm>
            <a:off x="4380224" y="4115874"/>
            <a:ext cx="12507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7"/>
          <p:cNvSpPr/>
          <p:nvPr/>
        </p:nvSpPr>
        <p:spPr>
          <a:xfrm>
            <a:off x="4417747" y="4290979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0.81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4" name="Google Shape;674;p17"/>
          <p:cNvSpPr/>
          <p:nvPr/>
        </p:nvSpPr>
        <p:spPr>
          <a:xfrm>
            <a:off x="5630966" y="4115874"/>
            <a:ext cx="1188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17"/>
          <p:cNvSpPr/>
          <p:nvPr/>
        </p:nvSpPr>
        <p:spPr>
          <a:xfrm>
            <a:off x="5668488" y="4290979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0.02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17"/>
          <p:cNvSpPr/>
          <p:nvPr/>
        </p:nvSpPr>
        <p:spPr>
          <a:xfrm>
            <a:off x="6819171" y="4115874"/>
            <a:ext cx="1563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17"/>
          <p:cNvSpPr/>
          <p:nvPr/>
        </p:nvSpPr>
        <p:spPr>
          <a:xfrm>
            <a:off x="6856693" y="4290979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0.65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17"/>
          <p:cNvSpPr/>
          <p:nvPr/>
        </p:nvSpPr>
        <p:spPr>
          <a:xfrm>
            <a:off x="8382598" y="4115874"/>
            <a:ext cx="1563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7"/>
          <p:cNvSpPr/>
          <p:nvPr/>
        </p:nvSpPr>
        <p:spPr>
          <a:xfrm>
            <a:off x="8420120" y="4290979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0.61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7"/>
          <p:cNvSpPr/>
          <p:nvPr/>
        </p:nvSpPr>
        <p:spPr>
          <a:xfrm>
            <a:off x="9946025" y="4115874"/>
            <a:ext cx="14382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7"/>
          <p:cNvSpPr/>
          <p:nvPr/>
        </p:nvSpPr>
        <p:spPr>
          <a:xfrm>
            <a:off x="9983548" y="4290979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0.63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502925" y="4641187"/>
            <a:ext cx="2563800" cy="525300"/>
          </a:xfrm>
          <a:prstGeom prst="rect">
            <a:avLst/>
          </a:prstGeom>
          <a:solidFill>
            <a:srgbClr val="E9F7F5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7"/>
          <p:cNvSpPr/>
          <p:nvPr/>
        </p:nvSpPr>
        <p:spPr>
          <a:xfrm>
            <a:off x="540447" y="4816291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17"/>
          <p:cNvSpPr/>
          <p:nvPr/>
        </p:nvSpPr>
        <p:spPr>
          <a:xfrm>
            <a:off x="3066946" y="4641187"/>
            <a:ext cx="1313400" cy="525300"/>
          </a:xfrm>
          <a:prstGeom prst="rect">
            <a:avLst/>
          </a:prstGeom>
          <a:solidFill>
            <a:srgbClr val="E9F7F5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7"/>
          <p:cNvSpPr/>
          <p:nvPr/>
        </p:nvSpPr>
        <p:spPr>
          <a:xfrm>
            <a:off x="3104468" y="4816291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0.89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17"/>
          <p:cNvSpPr/>
          <p:nvPr/>
        </p:nvSpPr>
        <p:spPr>
          <a:xfrm>
            <a:off x="4380224" y="4641187"/>
            <a:ext cx="1250700" cy="525300"/>
          </a:xfrm>
          <a:prstGeom prst="rect">
            <a:avLst/>
          </a:prstGeom>
          <a:solidFill>
            <a:srgbClr val="E9F7F5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7"/>
          <p:cNvSpPr/>
          <p:nvPr/>
        </p:nvSpPr>
        <p:spPr>
          <a:xfrm>
            <a:off x="4417747" y="4816291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0.83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7"/>
          <p:cNvSpPr/>
          <p:nvPr/>
        </p:nvSpPr>
        <p:spPr>
          <a:xfrm>
            <a:off x="5630966" y="4641187"/>
            <a:ext cx="1188300" cy="525300"/>
          </a:xfrm>
          <a:prstGeom prst="rect">
            <a:avLst/>
          </a:prstGeom>
          <a:solidFill>
            <a:srgbClr val="E9F7F5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7"/>
          <p:cNvSpPr/>
          <p:nvPr/>
        </p:nvSpPr>
        <p:spPr>
          <a:xfrm>
            <a:off x="5668488" y="4816291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0.06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7"/>
          <p:cNvSpPr/>
          <p:nvPr/>
        </p:nvSpPr>
        <p:spPr>
          <a:xfrm>
            <a:off x="6819171" y="4641187"/>
            <a:ext cx="1563300" cy="525300"/>
          </a:xfrm>
          <a:prstGeom prst="rect">
            <a:avLst/>
          </a:prstGeom>
          <a:solidFill>
            <a:srgbClr val="E9F7F5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7"/>
          <p:cNvSpPr/>
          <p:nvPr/>
        </p:nvSpPr>
        <p:spPr>
          <a:xfrm>
            <a:off x="6856693" y="4816291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0.67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7"/>
          <p:cNvSpPr/>
          <p:nvPr/>
        </p:nvSpPr>
        <p:spPr>
          <a:xfrm>
            <a:off x="8382598" y="4641187"/>
            <a:ext cx="1563300" cy="525300"/>
          </a:xfrm>
          <a:prstGeom prst="rect">
            <a:avLst/>
          </a:prstGeom>
          <a:solidFill>
            <a:srgbClr val="E9F7F5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7"/>
          <p:cNvSpPr/>
          <p:nvPr/>
        </p:nvSpPr>
        <p:spPr>
          <a:xfrm>
            <a:off x="8420120" y="4816291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0.63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7"/>
          <p:cNvSpPr/>
          <p:nvPr/>
        </p:nvSpPr>
        <p:spPr>
          <a:xfrm>
            <a:off x="9946025" y="4641187"/>
            <a:ext cx="1438200" cy="525300"/>
          </a:xfrm>
          <a:prstGeom prst="rect">
            <a:avLst/>
          </a:prstGeom>
          <a:solidFill>
            <a:srgbClr val="E9F7F5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7"/>
          <p:cNvSpPr/>
          <p:nvPr/>
        </p:nvSpPr>
        <p:spPr>
          <a:xfrm>
            <a:off x="9983548" y="4816291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0.65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7"/>
          <p:cNvSpPr/>
          <p:nvPr/>
        </p:nvSpPr>
        <p:spPr>
          <a:xfrm>
            <a:off x="502925" y="5166500"/>
            <a:ext cx="25638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540447" y="5341604"/>
            <a:ext cx="24888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LightGBM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7"/>
          <p:cNvSpPr/>
          <p:nvPr/>
        </p:nvSpPr>
        <p:spPr>
          <a:xfrm>
            <a:off x="3066946" y="5166500"/>
            <a:ext cx="13134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7"/>
          <p:cNvSpPr/>
          <p:nvPr/>
        </p:nvSpPr>
        <p:spPr>
          <a:xfrm>
            <a:off x="3104468" y="5341604"/>
            <a:ext cx="12384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0.88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7"/>
          <p:cNvSpPr/>
          <p:nvPr/>
        </p:nvSpPr>
        <p:spPr>
          <a:xfrm>
            <a:off x="4380224" y="5166500"/>
            <a:ext cx="12507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7"/>
          <p:cNvSpPr/>
          <p:nvPr/>
        </p:nvSpPr>
        <p:spPr>
          <a:xfrm>
            <a:off x="4417747" y="5341604"/>
            <a:ext cx="11757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0.82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7"/>
          <p:cNvSpPr/>
          <p:nvPr/>
        </p:nvSpPr>
        <p:spPr>
          <a:xfrm>
            <a:off x="5630966" y="5166500"/>
            <a:ext cx="1188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7"/>
          <p:cNvSpPr/>
          <p:nvPr/>
        </p:nvSpPr>
        <p:spPr>
          <a:xfrm>
            <a:off x="5668488" y="5341604"/>
            <a:ext cx="1113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0.06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7"/>
          <p:cNvSpPr/>
          <p:nvPr/>
        </p:nvSpPr>
        <p:spPr>
          <a:xfrm>
            <a:off x="6819171" y="5166500"/>
            <a:ext cx="1563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7"/>
          <p:cNvSpPr/>
          <p:nvPr/>
        </p:nvSpPr>
        <p:spPr>
          <a:xfrm>
            <a:off x="6856693" y="5341604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0.66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7"/>
          <p:cNvSpPr/>
          <p:nvPr/>
        </p:nvSpPr>
        <p:spPr>
          <a:xfrm>
            <a:off x="8382598" y="5166500"/>
            <a:ext cx="15633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7"/>
          <p:cNvSpPr/>
          <p:nvPr/>
        </p:nvSpPr>
        <p:spPr>
          <a:xfrm>
            <a:off x="8420120" y="5341604"/>
            <a:ext cx="14883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0.62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17"/>
          <p:cNvSpPr/>
          <p:nvPr/>
        </p:nvSpPr>
        <p:spPr>
          <a:xfrm>
            <a:off x="9946025" y="5166500"/>
            <a:ext cx="1438200" cy="525300"/>
          </a:xfrm>
          <a:prstGeom prst="rect">
            <a:avLst/>
          </a:prstGeom>
          <a:solidFill>
            <a:srgbClr val="FFFFFF"/>
          </a:solidFill>
          <a:ln w="13025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5050" tIns="125050" rIns="125050" bIns="1250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7"/>
          <p:cNvSpPr/>
          <p:nvPr/>
        </p:nvSpPr>
        <p:spPr>
          <a:xfrm>
            <a:off x="9983548" y="5341604"/>
            <a:ext cx="13632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89"/>
              <a:buFont typeface="Arial"/>
              <a:buNone/>
            </a:pPr>
            <a:r>
              <a:rPr lang="en-US" sz="889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0.64</a:t>
            </a:r>
            <a:endParaRPr sz="889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17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8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16. Choosing a Final Model for Business Use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8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The best model depends on the cost of mistakes.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18"/>
          <p:cNvSpPr/>
          <p:nvPr/>
        </p:nvSpPr>
        <p:spPr>
          <a:xfrm>
            <a:off x="685800" y="1143000"/>
            <a:ext cx="4800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8"/>
          <p:cNvSpPr/>
          <p:nvPr/>
        </p:nvSpPr>
        <p:spPr>
          <a:xfrm>
            <a:off x="685800" y="1143000"/>
            <a:ext cx="54864" cy="164592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8"/>
          <p:cNvSpPr/>
          <p:nvPr/>
        </p:nvSpPr>
        <p:spPr>
          <a:xfrm>
            <a:off x="850392" y="1271016"/>
            <a:ext cx="45079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retention action is cheap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18"/>
          <p:cNvSpPr/>
          <p:nvPr/>
        </p:nvSpPr>
        <p:spPr>
          <a:xfrm>
            <a:off x="850392" y="1600200"/>
            <a:ext cx="4507992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Goal: catch as many churners as possible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Prioritize Churn Recall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Accept some False Positives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18"/>
          <p:cNvSpPr/>
          <p:nvPr/>
        </p:nvSpPr>
        <p:spPr>
          <a:xfrm>
            <a:off x="685800" y="3063240"/>
            <a:ext cx="48006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8"/>
          <p:cNvSpPr/>
          <p:nvPr/>
        </p:nvSpPr>
        <p:spPr>
          <a:xfrm>
            <a:off x="685800" y="3063240"/>
            <a:ext cx="54864" cy="1645920"/>
          </a:xfrm>
          <a:prstGeom prst="rect">
            <a:avLst/>
          </a:prstGeom>
          <a:solidFill>
            <a:srgbClr val="F4A261"/>
          </a:solidFill>
          <a:ln w="1270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18"/>
          <p:cNvSpPr/>
          <p:nvPr/>
        </p:nvSpPr>
        <p:spPr>
          <a:xfrm>
            <a:off x="850392" y="3191256"/>
            <a:ext cx="45079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If retention offer is expensive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5" name="Google Shape;725;p18"/>
          <p:cNvSpPr/>
          <p:nvPr/>
        </p:nvSpPr>
        <p:spPr>
          <a:xfrm>
            <a:off x="850392" y="3520440"/>
            <a:ext cx="4507992" cy="1115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Goal: avoid wasting money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Balance Precision and Recall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60"/>
              <a:buFont typeface="Arial"/>
              <a:buNone/>
            </a:pPr>
            <a:r>
              <a:rPr lang="en-US" sz="106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Use F1 and business cost</a:t>
            </a:r>
            <a:endParaRPr sz="106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18"/>
          <p:cNvSpPr/>
          <p:nvPr/>
        </p:nvSpPr>
        <p:spPr>
          <a:xfrm>
            <a:off x="6172200" y="1143000"/>
            <a:ext cx="480060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8"/>
          <p:cNvSpPr/>
          <p:nvPr/>
        </p:nvSpPr>
        <p:spPr>
          <a:xfrm>
            <a:off x="6446520" y="141732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Example final choice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8"/>
          <p:cNvSpPr/>
          <p:nvPr/>
        </p:nvSpPr>
        <p:spPr>
          <a:xfrm>
            <a:off x="6446520" y="1901952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A9D8F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2A9D8F"/>
                </a:solidFill>
                <a:latin typeface="Arial"/>
                <a:ea typeface="Arial"/>
                <a:cs typeface="Arial"/>
                <a:sym typeface="Arial"/>
              </a:rPr>
              <a:t>XGBoost</a:t>
            </a: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18"/>
          <p:cNvSpPr/>
          <p:nvPr/>
        </p:nvSpPr>
        <p:spPr>
          <a:xfrm>
            <a:off x="6446520" y="2651760"/>
            <a:ext cx="41605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50"/>
              <a:buFont typeface="Arial"/>
              <a:buNone/>
            </a:pPr>
            <a:r>
              <a:rPr lang="en-US" sz="125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Reason: strongest Churn F1 and high Churn Recall while keeping the train-test gap acceptable.</a:t>
            </a:r>
            <a:endParaRPr sz="12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18"/>
          <p:cNvSpPr/>
          <p:nvPr/>
        </p:nvSpPr>
        <p:spPr>
          <a:xfrm>
            <a:off x="6446520" y="376732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5B6472"/>
                </a:solidFill>
              </a:rPr>
              <a:t>Do </a:t>
            </a: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not choose the model only by accuracy; I chose it based on the business objective.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18"/>
          <p:cNvSpPr/>
          <p:nvPr/>
        </p:nvSpPr>
        <p:spPr>
          <a:xfrm>
            <a:off x="868680" y="534924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8"/>
          <p:cNvSpPr/>
          <p:nvPr/>
        </p:nvSpPr>
        <p:spPr>
          <a:xfrm>
            <a:off x="1033272" y="5458968"/>
            <a:ext cx="9820656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Junior skill: explain the trade-off, not just the highest number.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8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9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17. Confusion Matrix: What Mistakes Cost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19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Convert model predictions into business consequences.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19"/>
          <p:cNvSpPr/>
          <p:nvPr/>
        </p:nvSpPr>
        <p:spPr>
          <a:xfrm>
            <a:off x="822960" y="1161288"/>
            <a:ext cx="4389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50"/>
              <a:buFont typeface="Arial"/>
              <a:buNone/>
            </a:pPr>
            <a:r>
              <a:rPr lang="en-US" sz="14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Example confusion matrix</a:t>
            </a:r>
            <a:endParaRPr sz="14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19"/>
          <p:cNvSpPr/>
          <p:nvPr/>
        </p:nvSpPr>
        <p:spPr>
          <a:xfrm>
            <a:off x="822960" y="19202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9"/>
          <p:cNvSpPr/>
          <p:nvPr/>
        </p:nvSpPr>
        <p:spPr>
          <a:xfrm>
            <a:off x="822960" y="207568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950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19"/>
          <p:cNvSpPr/>
          <p:nvPr/>
        </p:nvSpPr>
        <p:spPr>
          <a:xfrm>
            <a:off x="2834640" y="192024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9"/>
          <p:cNvSpPr/>
          <p:nvPr/>
        </p:nvSpPr>
        <p:spPr>
          <a:xfrm>
            <a:off x="2834640" y="207568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FP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85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19"/>
          <p:cNvSpPr/>
          <p:nvPr/>
        </p:nvSpPr>
        <p:spPr>
          <a:xfrm>
            <a:off x="822960" y="2971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FDEDEC"/>
          </a:solidFill>
          <a:ln w="1015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9"/>
          <p:cNvSpPr/>
          <p:nvPr/>
        </p:nvSpPr>
        <p:spPr>
          <a:xfrm>
            <a:off x="822960" y="31272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FN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140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19"/>
          <p:cNvSpPr/>
          <p:nvPr/>
        </p:nvSpPr>
        <p:spPr>
          <a:xfrm>
            <a:off x="2834640" y="2971800"/>
            <a:ext cx="1783080" cy="777240"/>
          </a:xfrm>
          <a:prstGeom prst="roundRect">
            <a:avLst>
              <a:gd name="adj" fmla="val 7059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9"/>
          <p:cNvSpPr/>
          <p:nvPr/>
        </p:nvSpPr>
        <p:spPr>
          <a:xfrm>
            <a:off x="2834640" y="3127248"/>
            <a:ext cx="17830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TP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234</a:t>
            </a:r>
            <a:endParaRPr sz="16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19"/>
          <p:cNvSpPr/>
          <p:nvPr/>
        </p:nvSpPr>
        <p:spPr>
          <a:xfrm>
            <a:off x="822960" y="1600200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Predicted 0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19"/>
          <p:cNvSpPr/>
          <p:nvPr/>
        </p:nvSpPr>
        <p:spPr>
          <a:xfrm>
            <a:off x="2834640" y="1600200"/>
            <a:ext cx="178308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Predicted 1</a:t>
            </a:r>
            <a:endParaRPr sz="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19"/>
          <p:cNvSpPr/>
          <p:nvPr/>
        </p:nvSpPr>
        <p:spPr>
          <a:xfrm>
            <a:off x="201168" y="217627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Actual 0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19"/>
          <p:cNvSpPr/>
          <p:nvPr/>
        </p:nvSpPr>
        <p:spPr>
          <a:xfrm>
            <a:off x="201168" y="3227832"/>
            <a:ext cx="502920" cy="109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750"/>
              <a:buFont typeface="Arial"/>
              <a:buNone/>
            </a:pPr>
            <a:r>
              <a:rPr lang="en-US" sz="750" b="1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Actual 1</a:t>
            </a:r>
            <a:endParaRPr sz="7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9"/>
          <p:cNvSpPr/>
          <p:nvPr/>
        </p:nvSpPr>
        <p:spPr>
          <a:xfrm>
            <a:off x="5760720" y="11887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9"/>
          <p:cNvSpPr/>
          <p:nvPr/>
        </p:nvSpPr>
        <p:spPr>
          <a:xfrm>
            <a:off x="5760720" y="1188720"/>
            <a:ext cx="54864" cy="2148840"/>
          </a:xfrm>
          <a:prstGeom prst="rect">
            <a:avLst/>
          </a:prstGeom>
          <a:solidFill>
            <a:srgbClr val="E76F51"/>
          </a:solidFill>
          <a:ln w="12700" cap="flat" cmpd="sng">
            <a:solidFill>
              <a:srgbClr val="E76F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9"/>
          <p:cNvSpPr/>
          <p:nvPr/>
        </p:nvSpPr>
        <p:spPr>
          <a:xfrm>
            <a:off x="5925312" y="1316736"/>
            <a:ext cx="50566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Business interpretation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19"/>
          <p:cNvSpPr/>
          <p:nvPr/>
        </p:nvSpPr>
        <p:spPr>
          <a:xfrm>
            <a:off x="5925312" y="1645920"/>
            <a:ext cx="5056632" cy="1618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FP: customer would not leave, but we contact them unnecessarily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FN: customer leaves, but we miss the chance to intervene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In churn projects, FN is often the most painful error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19"/>
          <p:cNvSpPr/>
          <p:nvPr/>
        </p:nvSpPr>
        <p:spPr>
          <a:xfrm>
            <a:off x="868680" y="5212080"/>
            <a:ext cx="10149840" cy="530352"/>
          </a:xfrm>
          <a:prstGeom prst="roundRect">
            <a:avLst>
              <a:gd name="adj" fmla="val 13793"/>
            </a:avLst>
          </a:prstGeom>
          <a:solidFill>
            <a:srgbClr val="FFF4E6"/>
          </a:solidFill>
          <a:ln w="101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9"/>
          <p:cNvSpPr/>
          <p:nvPr/>
        </p:nvSpPr>
        <p:spPr>
          <a:xfrm>
            <a:off x="1033272" y="5321808"/>
            <a:ext cx="9820656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Recall increases when we reduce False Negatives: Recall = TP / (TP + FN).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19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20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18. Turning Predictions into Retention Actions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20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The output becomes useful only when it supports a practical process.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20"/>
          <p:cNvSpPr/>
          <p:nvPr/>
        </p:nvSpPr>
        <p:spPr>
          <a:xfrm>
            <a:off x="731520" y="1417320"/>
            <a:ext cx="1645920" cy="676656"/>
          </a:xfrm>
          <a:prstGeom prst="roundRect">
            <a:avLst>
              <a:gd name="adj" fmla="val 10811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20"/>
          <p:cNvSpPr/>
          <p:nvPr/>
        </p:nvSpPr>
        <p:spPr>
          <a:xfrm>
            <a:off x="804672" y="1627632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lang="en-US" sz="9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Customer data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20"/>
          <p:cNvSpPr/>
          <p:nvPr/>
        </p:nvSpPr>
        <p:spPr>
          <a:xfrm>
            <a:off x="822960" y="1865376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80"/>
              <a:buFont typeface="Arial"/>
              <a:buNone/>
            </a:pPr>
            <a:r>
              <a:rPr lang="en-US" sz="6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CRM + billing + support</a:t>
            </a:r>
            <a:endParaRPr sz="6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1" name="Google Shape;771;p20"/>
          <p:cNvCxnSpPr/>
          <p:nvPr/>
        </p:nvCxnSpPr>
        <p:spPr>
          <a:xfrm>
            <a:off x="2423160" y="1755648"/>
            <a:ext cx="448056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72" name="Google Shape;772;p20"/>
          <p:cNvSpPr/>
          <p:nvPr/>
        </p:nvSpPr>
        <p:spPr>
          <a:xfrm>
            <a:off x="2971800" y="1417320"/>
            <a:ext cx="1645920" cy="676656"/>
          </a:xfrm>
          <a:prstGeom prst="roundRect">
            <a:avLst>
              <a:gd name="adj" fmla="val 10811"/>
            </a:avLst>
          </a:prstGeom>
          <a:solidFill>
            <a:srgbClr val="E9F7F5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20"/>
          <p:cNvSpPr/>
          <p:nvPr/>
        </p:nvSpPr>
        <p:spPr>
          <a:xfrm>
            <a:off x="3044952" y="1627632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lang="en-US" sz="9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Model score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20"/>
          <p:cNvSpPr/>
          <p:nvPr/>
        </p:nvSpPr>
        <p:spPr>
          <a:xfrm>
            <a:off x="3063240" y="1865376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80"/>
              <a:buFont typeface="Arial"/>
              <a:buNone/>
            </a:pPr>
            <a:r>
              <a:rPr lang="en-US" sz="6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Probability of churn</a:t>
            </a:r>
            <a:endParaRPr sz="6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5" name="Google Shape;775;p20"/>
          <p:cNvCxnSpPr/>
          <p:nvPr/>
        </p:nvCxnSpPr>
        <p:spPr>
          <a:xfrm>
            <a:off x="4663440" y="1755648"/>
            <a:ext cx="448056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76" name="Google Shape;776;p20"/>
          <p:cNvSpPr/>
          <p:nvPr/>
        </p:nvSpPr>
        <p:spPr>
          <a:xfrm>
            <a:off x="5212080" y="1417320"/>
            <a:ext cx="1645920" cy="676656"/>
          </a:xfrm>
          <a:prstGeom prst="roundRect">
            <a:avLst>
              <a:gd name="adj" fmla="val 10811"/>
            </a:avLst>
          </a:prstGeom>
          <a:solidFill>
            <a:srgbClr val="FFF4E6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20"/>
          <p:cNvSpPr/>
          <p:nvPr/>
        </p:nvSpPr>
        <p:spPr>
          <a:xfrm>
            <a:off x="5285232" y="1627632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lang="en-US" sz="9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Segment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20"/>
          <p:cNvSpPr/>
          <p:nvPr/>
        </p:nvSpPr>
        <p:spPr>
          <a:xfrm>
            <a:off x="5303520" y="1865376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80"/>
              <a:buFont typeface="Arial"/>
              <a:buNone/>
            </a:pPr>
            <a:r>
              <a:rPr lang="en-US" sz="6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High / medium / low risk</a:t>
            </a:r>
            <a:endParaRPr sz="6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9" name="Google Shape;779;p20"/>
          <p:cNvCxnSpPr/>
          <p:nvPr/>
        </p:nvCxnSpPr>
        <p:spPr>
          <a:xfrm>
            <a:off x="6903720" y="1755648"/>
            <a:ext cx="448056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0" name="Google Shape;780;p20"/>
          <p:cNvSpPr/>
          <p:nvPr/>
        </p:nvSpPr>
        <p:spPr>
          <a:xfrm>
            <a:off x="7452360" y="1417320"/>
            <a:ext cx="1645920" cy="676656"/>
          </a:xfrm>
          <a:prstGeom prst="roundRect">
            <a:avLst>
              <a:gd name="adj" fmla="val 10811"/>
            </a:avLst>
          </a:prstGeom>
          <a:solidFill>
            <a:srgbClr val="FDEDEC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20"/>
          <p:cNvSpPr/>
          <p:nvPr/>
        </p:nvSpPr>
        <p:spPr>
          <a:xfrm>
            <a:off x="7525512" y="1627632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lang="en-US" sz="9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20"/>
          <p:cNvSpPr/>
          <p:nvPr/>
        </p:nvSpPr>
        <p:spPr>
          <a:xfrm>
            <a:off x="7543800" y="1865376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80"/>
              <a:buFont typeface="Arial"/>
              <a:buNone/>
            </a:pPr>
            <a:r>
              <a:rPr lang="en-US" sz="6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Call, discount, support</a:t>
            </a:r>
            <a:endParaRPr sz="6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83" name="Google Shape;783;p20"/>
          <p:cNvCxnSpPr/>
          <p:nvPr/>
        </p:nvCxnSpPr>
        <p:spPr>
          <a:xfrm>
            <a:off x="9144000" y="1755648"/>
            <a:ext cx="448056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84" name="Google Shape;784;p20"/>
          <p:cNvSpPr/>
          <p:nvPr/>
        </p:nvSpPr>
        <p:spPr>
          <a:xfrm>
            <a:off x="9692640" y="1417320"/>
            <a:ext cx="1645920" cy="676656"/>
          </a:xfrm>
          <a:prstGeom prst="roundRect">
            <a:avLst>
              <a:gd name="adj" fmla="val 10811"/>
            </a:avLst>
          </a:prstGeom>
          <a:solidFill>
            <a:srgbClr val="EFEAFE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20"/>
          <p:cNvSpPr/>
          <p:nvPr/>
        </p:nvSpPr>
        <p:spPr>
          <a:xfrm>
            <a:off x="9765792" y="1627632"/>
            <a:ext cx="1499616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920"/>
              <a:buFont typeface="Arial"/>
              <a:buNone/>
            </a:pPr>
            <a:r>
              <a:rPr lang="en-US" sz="92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Measure</a:t>
            </a:r>
            <a:endParaRPr sz="9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0"/>
          <p:cNvSpPr/>
          <p:nvPr/>
        </p:nvSpPr>
        <p:spPr>
          <a:xfrm>
            <a:off x="9784080" y="1865376"/>
            <a:ext cx="1463040" cy="1188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680"/>
              <a:buFont typeface="Arial"/>
              <a:buNone/>
            </a:pPr>
            <a:r>
              <a:rPr lang="en-US" sz="68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Did churn decrease?</a:t>
            </a:r>
            <a:endParaRPr sz="68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0"/>
          <p:cNvSpPr/>
          <p:nvPr/>
        </p:nvSpPr>
        <p:spPr>
          <a:xfrm>
            <a:off x="914400" y="306324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20"/>
          <p:cNvSpPr/>
          <p:nvPr/>
        </p:nvSpPr>
        <p:spPr>
          <a:xfrm>
            <a:off x="914400" y="3063240"/>
            <a:ext cx="54864" cy="173736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20"/>
          <p:cNvSpPr/>
          <p:nvPr/>
        </p:nvSpPr>
        <p:spPr>
          <a:xfrm>
            <a:off x="1078992" y="3191256"/>
            <a:ext cx="4553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Example action rule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20"/>
          <p:cNvSpPr/>
          <p:nvPr/>
        </p:nvSpPr>
        <p:spPr>
          <a:xfrm>
            <a:off x="1078992" y="3520440"/>
            <a:ext cx="4553712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Risk &gt; 70%: retention call within 48 hours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Risk 40–70%: email offer or service check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Risk &lt; 40%: normal customer journey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20"/>
          <p:cNvSpPr/>
          <p:nvPr/>
        </p:nvSpPr>
        <p:spPr>
          <a:xfrm>
            <a:off x="6126480" y="3063240"/>
            <a:ext cx="48463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0"/>
          <p:cNvSpPr/>
          <p:nvPr/>
        </p:nvSpPr>
        <p:spPr>
          <a:xfrm>
            <a:off x="6126480" y="3063240"/>
            <a:ext cx="54864" cy="173736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20"/>
          <p:cNvSpPr/>
          <p:nvPr/>
        </p:nvSpPr>
        <p:spPr>
          <a:xfrm>
            <a:off x="6291072" y="3191256"/>
            <a:ext cx="455371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to monitor after deployment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0"/>
          <p:cNvSpPr/>
          <p:nvPr/>
        </p:nvSpPr>
        <p:spPr>
          <a:xfrm>
            <a:off x="6291072" y="3520440"/>
            <a:ext cx="4553712" cy="120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Churn rate before vs after campaign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Cost of offers vs saved revenue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Model drift: data patterns may change over time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0"/>
          <p:cNvSpPr/>
          <p:nvPr/>
        </p:nvSpPr>
        <p:spPr>
          <a:xfrm>
            <a:off x="868680" y="5532120"/>
            <a:ext cx="10149840" cy="502920"/>
          </a:xfrm>
          <a:prstGeom prst="roundRect">
            <a:avLst>
              <a:gd name="adj" fmla="val 14545"/>
            </a:avLst>
          </a:prstGeom>
          <a:solidFill>
            <a:srgbClr val="FFF4E6"/>
          </a:solidFill>
          <a:ln w="10150" cap="flat" cmpd="sng">
            <a:solidFill>
              <a:srgbClr val="F4A2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20"/>
          <p:cNvSpPr/>
          <p:nvPr/>
        </p:nvSpPr>
        <p:spPr>
          <a:xfrm>
            <a:off x="1033272" y="5641848"/>
            <a:ext cx="9820656" cy="28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130"/>
              <a:buFont typeface="Arial"/>
              <a:buNone/>
            </a:pPr>
            <a:r>
              <a:rPr lang="en-US" sz="113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Real-life value: the model is not the final product. The decision process around the model creates business value.</a:t>
            </a:r>
            <a:endParaRPr sz="113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0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21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19. What to Say as a Junior Data Scientist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21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A clear explanation is more important than naming advanced models.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21"/>
          <p:cNvSpPr/>
          <p:nvPr/>
        </p:nvSpPr>
        <p:spPr>
          <a:xfrm>
            <a:off x="685800" y="1051560"/>
            <a:ext cx="5166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21"/>
          <p:cNvSpPr/>
          <p:nvPr/>
        </p:nvSpPr>
        <p:spPr>
          <a:xfrm>
            <a:off x="685800" y="1051560"/>
            <a:ext cx="54864" cy="274320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21"/>
          <p:cNvSpPr/>
          <p:nvPr/>
        </p:nvSpPr>
        <p:spPr>
          <a:xfrm>
            <a:off x="850392" y="1179576"/>
            <a:ext cx="487375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Strong explanation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21"/>
          <p:cNvSpPr/>
          <p:nvPr/>
        </p:nvSpPr>
        <p:spPr>
          <a:xfrm>
            <a:off x="850392" y="1508760"/>
            <a:ext cx="4873752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I started from the business problem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I separated X and y and avoided leakage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I cleaned and encoded the data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I used train/test split with stratify=y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I compared models using metrics that match the business goal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21"/>
          <p:cNvSpPr/>
          <p:nvPr/>
        </p:nvSpPr>
        <p:spPr>
          <a:xfrm>
            <a:off x="6355080" y="1051560"/>
            <a:ext cx="46634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21"/>
          <p:cNvSpPr/>
          <p:nvPr/>
        </p:nvSpPr>
        <p:spPr>
          <a:xfrm>
            <a:off x="6355080" y="1051560"/>
            <a:ext cx="54864" cy="2743200"/>
          </a:xfrm>
          <a:prstGeom prst="rect">
            <a:avLst/>
          </a:prstGeom>
          <a:solidFill>
            <a:srgbClr val="D9534F"/>
          </a:solidFill>
          <a:ln w="12700" cap="flat" cmpd="sng">
            <a:solidFill>
              <a:srgbClr val="D953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21"/>
          <p:cNvSpPr/>
          <p:nvPr/>
        </p:nvSpPr>
        <p:spPr>
          <a:xfrm>
            <a:off x="6519672" y="1179576"/>
            <a:ext cx="437083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Avoid saying only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21"/>
          <p:cNvSpPr/>
          <p:nvPr/>
        </p:nvSpPr>
        <p:spPr>
          <a:xfrm>
            <a:off x="6519672" y="1508760"/>
            <a:ext cx="4370832" cy="2212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The model accuracy is high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XGBoost is best because it is advanced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Feature importance proves causation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20"/>
              <a:buFont typeface="Arial"/>
              <a:buNone/>
            </a:pPr>
            <a:r>
              <a:rPr lang="en-US" sz="102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• Training accuracy is enough</a:t>
            </a:r>
            <a:endParaRPr sz="102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21"/>
          <p:cNvSpPr/>
          <p:nvPr/>
        </p:nvSpPr>
        <p:spPr>
          <a:xfrm>
            <a:off x="868680" y="4937760"/>
            <a:ext cx="10149840" cy="713232"/>
          </a:xfrm>
          <a:prstGeom prst="roundRect">
            <a:avLst>
              <a:gd name="adj" fmla="val 10256"/>
            </a:avLst>
          </a:prstGeom>
          <a:solidFill>
            <a:srgbClr val="E9F7F5"/>
          </a:solidFill>
          <a:ln w="1015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21"/>
          <p:cNvSpPr/>
          <p:nvPr/>
        </p:nvSpPr>
        <p:spPr>
          <a:xfrm>
            <a:off x="1033272" y="5047488"/>
            <a:ext cx="9820656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Best final sentence: I selected the final model based on churn recall, F1-score, and generalization because the business goal is to catch customers before they leave.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21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22"/>
          <p:cNvSpPr/>
          <p:nvPr/>
        </p:nvSpPr>
        <p:spPr>
          <a:xfrm>
            <a:off x="502920" y="256032"/>
            <a:ext cx="1088136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Play"/>
              <a:buNone/>
            </a:pPr>
            <a:r>
              <a:rPr lang="en-US" sz="2400" b="1" i="0" u="none" strike="noStrike" cap="none">
                <a:solidFill>
                  <a:srgbClr val="111827"/>
                </a:solidFill>
                <a:latin typeface="Play"/>
                <a:ea typeface="Play"/>
                <a:cs typeface="Play"/>
                <a:sym typeface="Play"/>
              </a:rPr>
              <a:t>20. Recap: The Full Project Flow</a:t>
            </a: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22"/>
          <p:cNvSpPr/>
          <p:nvPr/>
        </p:nvSpPr>
        <p:spPr>
          <a:xfrm>
            <a:off x="521208" y="713232"/>
            <a:ext cx="107899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050"/>
              <a:buFont typeface="Arial"/>
              <a:buNone/>
            </a:pPr>
            <a:r>
              <a:rPr lang="en-US" sz="105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This is the story your classmates should remember.</a:t>
            </a:r>
            <a:endParaRPr sz="10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22"/>
          <p:cNvSpPr/>
          <p:nvPr/>
        </p:nvSpPr>
        <p:spPr>
          <a:xfrm>
            <a:off x="640080" y="1143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22"/>
          <p:cNvSpPr/>
          <p:nvPr/>
        </p:nvSpPr>
        <p:spPr>
          <a:xfrm>
            <a:off x="640080" y="1298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5" name="Google Shape;825;p22"/>
          <p:cNvCxnSpPr/>
          <p:nvPr/>
        </p:nvCxnSpPr>
        <p:spPr>
          <a:xfrm>
            <a:off x="1993392" y="1371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26" name="Google Shape;826;p22"/>
          <p:cNvSpPr/>
          <p:nvPr/>
        </p:nvSpPr>
        <p:spPr>
          <a:xfrm>
            <a:off x="2514600" y="1143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22"/>
          <p:cNvSpPr/>
          <p:nvPr/>
        </p:nvSpPr>
        <p:spPr>
          <a:xfrm>
            <a:off x="2514600" y="1298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8" name="Google Shape;828;p22"/>
          <p:cNvCxnSpPr/>
          <p:nvPr/>
        </p:nvCxnSpPr>
        <p:spPr>
          <a:xfrm>
            <a:off x="3867912" y="1371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29" name="Google Shape;829;p22"/>
          <p:cNvSpPr/>
          <p:nvPr/>
        </p:nvSpPr>
        <p:spPr>
          <a:xfrm>
            <a:off x="4389120" y="1143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22"/>
          <p:cNvSpPr/>
          <p:nvPr/>
        </p:nvSpPr>
        <p:spPr>
          <a:xfrm>
            <a:off x="4389120" y="1298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Clean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1" name="Google Shape;831;p22"/>
          <p:cNvCxnSpPr/>
          <p:nvPr/>
        </p:nvCxnSpPr>
        <p:spPr>
          <a:xfrm>
            <a:off x="5742432" y="1371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32" name="Google Shape;832;p22"/>
          <p:cNvSpPr/>
          <p:nvPr/>
        </p:nvSpPr>
        <p:spPr>
          <a:xfrm>
            <a:off x="6263640" y="1143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22"/>
          <p:cNvSpPr/>
          <p:nvPr/>
        </p:nvSpPr>
        <p:spPr>
          <a:xfrm>
            <a:off x="6263640" y="1298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Encode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4" name="Google Shape;834;p22"/>
          <p:cNvCxnSpPr/>
          <p:nvPr/>
        </p:nvCxnSpPr>
        <p:spPr>
          <a:xfrm>
            <a:off x="7616952" y="1371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35" name="Google Shape;835;p22"/>
          <p:cNvSpPr/>
          <p:nvPr/>
        </p:nvSpPr>
        <p:spPr>
          <a:xfrm>
            <a:off x="8138160" y="1143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AF3FF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22"/>
          <p:cNvSpPr/>
          <p:nvPr/>
        </p:nvSpPr>
        <p:spPr>
          <a:xfrm>
            <a:off x="8138160" y="1298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Split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7" name="Google Shape;837;p22"/>
          <p:cNvCxnSpPr/>
          <p:nvPr/>
        </p:nvCxnSpPr>
        <p:spPr>
          <a:xfrm>
            <a:off x="9491472" y="1371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38" name="Google Shape;838;p22"/>
          <p:cNvSpPr/>
          <p:nvPr/>
        </p:nvSpPr>
        <p:spPr>
          <a:xfrm>
            <a:off x="10012680" y="1143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4E6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22"/>
          <p:cNvSpPr/>
          <p:nvPr/>
        </p:nvSpPr>
        <p:spPr>
          <a:xfrm>
            <a:off x="10012680" y="1298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Tree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22"/>
          <p:cNvSpPr/>
          <p:nvPr/>
        </p:nvSpPr>
        <p:spPr>
          <a:xfrm>
            <a:off x="640080" y="2286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4E6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2"/>
          <p:cNvSpPr/>
          <p:nvPr/>
        </p:nvSpPr>
        <p:spPr>
          <a:xfrm>
            <a:off x="640080" y="2441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Evaluate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2" name="Google Shape;842;p22"/>
          <p:cNvCxnSpPr/>
          <p:nvPr/>
        </p:nvCxnSpPr>
        <p:spPr>
          <a:xfrm>
            <a:off x="1993392" y="2514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43" name="Google Shape;843;p22"/>
          <p:cNvSpPr/>
          <p:nvPr/>
        </p:nvSpPr>
        <p:spPr>
          <a:xfrm>
            <a:off x="2514600" y="2286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FF4E6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22"/>
          <p:cNvSpPr/>
          <p:nvPr/>
        </p:nvSpPr>
        <p:spPr>
          <a:xfrm>
            <a:off x="2514600" y="2441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Prune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5" name="Google Shape;845;p22"/>
          <p:cNvCxnSpPr/>
          <p:nvPr/>
        </p:nvCxnSpPr>
        <p:spPr>
          <a:xfrm>
            <a:off x="3867912" y="2514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46" name="Google Shape;846;p22"/>
          <p:cNvSpPr/>
          <p:nvPr/>
        </p:nvSpPr>
        <p:spPr>
          <a:xfrm>
            <a:off x="4389120" y="2286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9F7F5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22"/>
          <p:cNvSpPr/>
          <p:nvPr/>
        </p:nvSpPr>
        <p:spPr>
          <a:xfrm>
            <a:off x="4389120" y="2441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Forest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8" name="Google Shape;848;p22"/>
          <p:cNvCxnSpPr/>
          <p:nvPr/>
        </p:nvCxnSpPr>
        <p:spPr>
          <a:xfrm>
            <a:off x="5742432" y="2514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49" name="Google Shape;849;p22"/>
          <p:cNvSpPr/>
          <p:nvPr/>
        </p:nvSpPr>
        <p:spPr>
          <a:xfrm>
            <a:off x="6263640" y="2286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E9F7F5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22"/>
          <p:cNvSpPr/>
          <p:nvPr/>
        </p:nvSpPr>
        <p:spPr>
          <a:xfrm>
            <a:off x="6263640" y="2441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Boost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1" name="Google Shape;851;p22"/>
          <p:cNvCxnSpPr/>
          <p:nvPr/>
        </p:nvCxnSpPr>
        <p:spPr>
          <a:xfrm>
            <a:off x="7616952" y="2514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2" name="Google Shape;852;p22"/>
          <p:cNvSpPr/>
          <p:nvPr/>
        </p:nvSpPr>
        <p:spPr>
          <a:xfrm>
            <a:off x="8138160" y="2286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8138160" y="2441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Choose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4" name="Google Shape;854;p22"/>
          <p:cNvCxnSpPr/>
          <p:nvPr/>
        </p:nvCxnSpPr>
        <p:spPr>
          <a:xfrm>
            <a:off x="9491472" y="2514600"/>
            <a:ext cx="429768" cy="0"/>
          </a:xfrm>
          <a:prstGeom prst="straightConnector1">
            <a:avLst/>
          </a:prstGeom>
          <a:noFill/>
          <a:ln w="15225" cap="flat" cmpd="sng">
            <a:solidFill>
              <a:srgbClr val="1F3A5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55" name="Google Shape;855;p22"/>
          <p:cNvSpPr/>
          <p:nvPr/>
        </p:nvSpPr>
        <p:spPr>
          <a:xfrm>
            <a:off x="10012680" y="2286000"/>
            <a:ext cx="1325880" cy="457200"/>
          </a:xfrm>
          <a:prstGeom prst="roundRect">
            <a:avLst>
              <a:gd name="adj" fmla="val 12000"/>
            </a:avLst>
          </a:prstGeom>
          <a:solidFill>
            <a:srgbClr val="FDEDEC"/>
          </a:solidFill>
          <a:ln w="1270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22"/>
          <p:cNvSpPr/>
          <p:nvPr/>
        </p:nvSpPr>
        <p:spPr>
          <a:xfrm>
            <a:off x="10012680" y="2441448"/>
            <a:ext cx="1325880" cy="9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850"/>
              <a:buFont typeface="Arial"/>
              <a:buNone/>
            </a:pPr>
            <a:r>
              <a:rPr lang="en-US" sz="85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</a:t>
            </a:r>
            <a:endParaRPr sz="85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22"/>
          <p:cNvSpPr/>
          <p:nvPr/>
        </p:nvSpPr>
        <p:spPr>
          <a:xfrm>
            <a:off x="822960" y="393192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50" cap="flat" cmpd="sng">
            <a:solidFill>
              <a:srgbClr val="D7DE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22"/>
          <p:cNvSpPr/>
          <p:nvPr/>
        </p:nvSpPr>
        <p:spPr>
          <a:xfrm>
            <a:off x="822960" y="3931920"/>
            <a:ext cx="54864" cy="1280160"/>
          </a:xfrm>
          <a:prstGeom prst="rect">
            <a:avLst/>
          </a:prstGeom>
          <a:solidFill>
            <a:srgbClr val="2F80ED"/>
          </a:solidFill>
          <a:ln w="12700" cap="flat" cmpd="sng">
            <a:solidFill>
              <a:srgbClr val="2F80E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22"/>
          <p:cNvSpPr/>
          <p:nvPr/>
        </p:nvSpPr>
        <p:spPr>
          <a:xfrm>
            <a:off x="987552" y="4059936"/>
            <a:ext cx="473659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500"/>
              <a:buFont typeface="Arial"/>
              <a:buNone/>
            </a:pPr>
            <a:r>
              <a:rPr lang="en-US" sz="1500" b="1" i="0" u="none" strike="noStrike" cap="non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Main learning objective</a:t>
            </a:r>
            <a:endParaRPr sz="1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22"/>
          <p:cNvSpPr/>
          <p:nvPr/>
        </p:nvSpPr>
        <p:spPr>
          <a:xfrm>
            <a:off x="987552" y="4389120"/>
            <a:ext cx="4736592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472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5B6472"/>
                </a:solidFill>
                <a:latin typeface="Arial"/>
                <a:ea typeface="Arial"/>
                <a:cs typeface="Arial"/>
                <a:sym typeface="Arial"/>
              </a:rPr>
              <a:t>Tree-based models are not just algorithms. In a real churn project, they help us move from customer data to retention decisions.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22"/>
          <p:cNvSpPr/>
          <p:nvPr/>
        </p:nvSpPr>
        <p:spPr>
          <a:xfrm>
            <a:off x="6355080" y="3931920"/>
            <a:ext cx="54864" cy="1280160"/>
          </a:xfrm>
          <a:prstGeom prst="rect">
            <a:avLst/>
          </a:prstGeom>
          <a:solidFill>
            <a:srgbClr val="2A9D8F"/>
          </a:solidFill>
          <a:ln w="12700" cap="flat" cmpd="sng">
            <a:solidFill>
              <a:srgbClr val="2A9D8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2"/>
          <p:cNvSpPr txBox="1">
            <a:spLocks noGrp="1"/>
          </p:cNvSpPr>
          <p:nvPr>
            <p:ph type="sldNum" idx="4294967295"/>
          </p:nvPr>
        </p:nvSpPr>
        <p:spPr>
          <a:xfrm>
            <a:off x="11430000" y="653796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50" b="0" i="0" u="none" strike="noStrike" cap="non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750" b="0" i="0" u="none" strike="noStrike" cap="none">
              <a:solidFill>
                <a:srgbClr val="6B728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21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OpenAI</dc:creator>
  <cp:revision>1</cp:revision>
  <dcterms:created xsi:type="dcterms:W3CDTF">2026-07-23T20:19:49Z</dcterms:created>
  <dcterms:modified xsi:type="dcterms:W3CDTF">2026-07-24T10:19:40Z</dcterms:modified>
</cp:coreProperties>
</file>