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bzr1jlvuyOFeOBNnq1UZyS6E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 txBox="1"/>
          <p:nvPr>
            <p:ph idx="12" type="sldNum"/>
          </p:nvPr>
        </p:nvSpPr>
        <p:spPr>
          <a:xfrm>
            <a:off x="1588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9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Peer Learning • Data Collection — Web Scraping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5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9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AI Academy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tech_illustration_on_a_light_pastel_bac_batch_1.png" id="22" name="Google Shape;22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7843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58368" y="777240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C63FF"/>
                </a:solidFill>
                <a:latin typeface="Arial"/>
                <a:ea typeface="Arial"/>
                <a:cs typeface="Arial"/>
                <a:sym typeface="Arial"/>
              </a:rPr>
              <a:t>WEB SCRAPING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12344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From websites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to usable data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76656" y="2880360"/>
            <a:ext cx="4480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 beginner-friendly guide to the main scraping methods, their differences, and when to use each one.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8368" y="4014223"/>
            <a:ext cx="1600200" cy="320100"/>
          </a:xfrm>
          <a:prstGeom prst="roundRect">
            <a:avLst>
              <a:gd fmla="val 28571" name="adj"/>
            </a:avLst>
          </a:prstGeom>
          <a:solidFill>
            <a:srgbClr val="15B6A7"/>
          </a:solidFill>
          <a:ln cap="flat" cmpd="sng" w="12700">
            <a:solidFill>
              <a:srgbClr val="15B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31570" y="4096540"/>
            <a:ext cx="14538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85800" y="4681728"/>
            <a:ext cx="4663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Requests • BeautifulSoup • APIs • JSON-LD • Sessions • Selenium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The main ways to collect data from websites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30352" y="85039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The best method depends on how the website provides its data.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0012680" y="347472"/>
            <a:ext cx="1783080" cy="347472"/>
          </a:xfrm>
          <a:prstGeom prst="roundRect">
            <a:avLst>
              <a:gd fmla="val 21053" name="adj"/>
            </a:avLst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0104120" y="41605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 MAP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94360" y="1417320"/>
            <a:ext cx="3429000" cy="1444752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95528" y="1618488"/>
            <a:ext cx="512064" cy="512064"/>
          </a:xfrm>
          <a:prstGeom prst="roundRect">
            <a:avLst>
              <a:gd fmla="val 14286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95528" y="170078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35608" y="1600200"/>
            <a:ext cx="24048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Static HTML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13816" y="22494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Requests downloads the page.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BeautifulSoup reads its tags and classes.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370832" y="1417320"/>
            <a:ext cx="3429000" cy="1444752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572000" y="1618488"/>
            <a:ext cx="512064" cy="512064"/>
          </a:xfrm>
          <a:prstGeom prst="roundRect">
            <a:avLst>
              <a:gd fmla="val 14286" name="adj"/>
            </a:avLst>
          </a:prstGeom>
          <a:solidFill>
            <a:srgbClr val="15B6A7"/>
          </a:solidFill>
          <a:ln cap="flat" cmpd="sng" w="12700">
            <a:solidFill>
              <a:srgbClr val="15B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0" y="170078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{}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212080" y="1600200"/>
            <a:ext cx="24048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API / JSON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90288" y="22494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The website provides structured data directly through an endpoint.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147304" y="1417320"/>
            <a:ext cx="3429000" cy="1444752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8348472" y="1618488"/>
            <a:ext cx="512064" cy="512064"/>
          </a:xfrm>
          <a:prstGeom prst="roundRect">
            <a:avLst>
              <a:gd fmla="val 14286" name="adj"/>
            </a:avLst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348472" y="170078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988552" y="1600200"/>
            <a:ext cx="24048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JSON-LD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366760" y="22494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Structured JSON is embedded inside the HTML for search engines.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478018" y="2987416"/>
            <a:ext cx="3429000" cy="144480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679186" y="3188584"/>
            <a:ext cx="512100" cy="512100"/>
          </a:xfrm>
          <a:prstGeom prst="roundRect">
            <a:avLst>
              <a:gd fmla="val 14286" name="adj"/>
            </a:avLst>
          </a:prstGeom>
          <a:solidFill>
            <a:srgbClr val="FF8B3D"/>
          </a:solidFill>
          <a:ln cap="flat" cmpd="sng" w="1270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679186" y="327088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19266" y="3170296"/>
            <a:ext cx="2404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Authenticated pages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697474" y="3819520"/>
            <a:ext cx="299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 Session preserves cookies while login data and CSRF tokens are sent.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263634" y="2987416"/>
            <a:ext cx="3429000" cy="144480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464802" y="3188584"/>
            <a:ext cx="512100" cy="512100"/>
          </a:xfrm>
          <a:prstGeom prst="roundRect">
            <a:avLst>
              <a:gd fmla="val 14286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464802" y="327088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04882" y="3170296"/>
            <a:ext cx="2404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Browser automation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83090" y="3819520"/>
            <a:ext cx="299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Selenium runs a real browser for JavaScript, clicks, typing and scrolling.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>
            <p:ph idx="4294967295" type="sldNum"/>
          </p:nvPr>
        </p:nvSpPr>
        <p:spPr>
          <a:xfrm>
            <a:off x="11458953" y="6709265"/>
            <a:ext cx="22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84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061250" y="3717250"/>
            <a:ext cx="502800" cy="48270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504450" y="4636335"/>
            <a:ext cx="108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242"/>
                </a:solidFill>
              </a:rPr>
              <a:t>T</a:t>
            </a:r>
            <a:r>
              <a:rPr b="1" lang="en-US" sz="18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he pattern behind every method</a:t>
            </a:r>
            <a:endParaRPr sz="1800"/>
          </a:p>
        </p:txBody>
      </p:sp>
      <p:cxnSp>
        <p:nvCxnSpPr>
          <p:cNvPr id="67" name="Google Shape;67;p3"/>
          <p:cNvCxnSpPr/>
          <p:nvPr/>
        </p:nvCxnSpPr>
        <p:spPr>
          <a:xfrm>
            <a:off x="1693156" y="5701597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8" name="Google Shape;68;p3"/>
          <p:cNvCxnSpPr/>
          <p:nvPr/>
        </p:nvCxnSpPr>
        <p:spPr>
          <a:xfrm>
            <a:off x="3521957" y="5701597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" name="Google Shape;69;p3"/>
          <p:cNvCxnSpPr/>
          <p:nvPr/>
        </p:nvCxnSpPr>
        <p:spPr>
          <a:xfrm>
            <a:off x="5350757" y="5701597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" name="Google Shape;70;p3"/>
          <p:cNvCxnSpPr/>
          <p:nvPr/>
        </p:nvCxnSpPr>
        <p:spPr>
          <a:xfrm>
            <a:off x="7179557" y="5701597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1" name="Google Shape;71;p3"/>
          <p:cNvCxnSpPr/>
          <p:nvPr/>
        </p:nvCxnSpPr>
        <p:spPr>
          <a:xfrm>
            <a:off x="9008357" y="5701597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504438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Inspect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HTML, API, JSON-LD, or JS?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333238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Choose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Requests, API, Session, or Selenium?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162038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Load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Fetch data or open a browser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990837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Extract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Keys, selectors, text, attributes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819637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5. Validate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Errors, duplicates, missing values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648437" y="5209748"/>
            <a:ext cx="1417200" cy="11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6. Return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Clean list of dictionaries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Static pages vs dynamic pages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0352" y="85039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This distinction usually decides whether Requests is enough or a browser is needed.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829800" y="347472"/>
            <a:ext cx="1783080" cy="347472"/>
          </a:xfrm>
          <a:prstGeom prst="roundRect">
            <a:avLst>
              <a:gd fmla="val 21053" name="adj"/>
            </a:avLst>
          </a:prstGeom>
          <a:solidFill>
            <a:srgbClr val="15B6A7"/>
          </a:solidFill>
          <a:ln cap="flat" cmpd="sng" w="12700">
            <a:solidFill>
              <a:srgbClr val="15B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921240" y="41605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CONCEPT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clean_modern_3d_illustration_infographic_scene_batch_2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46636"/>
            <a:ext cx="6675120" cy="37567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7498080" y="1417320"/>
            <a:ext cx="4078224" cy="1755648"/>
          </a:xfrm>
          <a:prstGeom prst="roundRect">
            <a:avLst>
              <a:gd fmla="val 3125" name="adj"/>
            </a:avLst>
          </a:prstGeom>
          <a:solidFill>
            <a:srgbClr val="EAF1FF"/>
          </a:solidFill>
          <a:ln cap="flat" cmpd="sng" w="12700">
            <a:solidFill>
              <a:srgbClr val="C9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790688" y="16733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Static page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754112" y="2066544"/>
            <a:ext cx="3401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Data is already in the returned HTML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Usually faster and easier to scrape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Best tools: Requests + BeautifulSoup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498080" y="3456432"/>
            <a:ext cx="4078224" cy="1874520"/>
          </a:xfrm>
          <a:prstGeom prst="roundRect">
            <a:avLst>
              <a:gd fmla="val 2927" name="adj"/>
            </a:avLst>
          </a:prstGeom>
          <a:solidFill>
            <a:srgbClr val="E9F8F6"/>
          </a:solidFill>
          <a:ln cap="flat" cmpd="sng" w="12700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790688" y="371246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B6A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5B6A7"/>
                </a:solidFill>
                <a:latin typeface="Arial"/>
                <a:ea typeface="Arial"/>
                <a:cs typeface="Arial"/>
                <a:sym typeface="Arial"/>
              </a:rPr>
              <a:t>Dynamic page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754112" y="4105656"/>
            <a:ext cx="34015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JavaScript loads or changes the content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May require clicking, waiting or scrolling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Char char="•"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Best tool when no API exists: Selenium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>
            <p:ph idx="4294967295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B84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CSS selectors — how we point to the data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530352" y="85039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 selector describes the element we want to find in the HTML.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10195560" y="347472"/>
            <a:ext cx="1783080" cy="347472"/>
          </a:xfrm>
          <a:prstGeom prst="roundRect">
            <a:avLst>
              <a:gd fmla="val 21053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10287000" y="41605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21800" y="1325877"/>
            <a:ext cx="5212200" cy="2419200"/>
          </a:xfrm>
          <a:prstGeom prst="roundRect">
            <a:avLst>
              <a:gd fmla="val 1250" name="adj"/>
            </a:avLst>
          </a:prstGeom>
          <a:solidFill>
            <a:srgbClr val="0F172A"/>
          </a:solidFill>
          <a:ln cap="flat" cmpd="sng" w="12700">
            <a:solidFill>
              <a:srgbClr val="243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768096" y="1453896"/>
            <a:ext cx="118872" cy="118872"/>
          </a:xfrm>
          <a:prstGeom prst="roundRect">
            <a:avLst>
              <a:gd fmla="val 23077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932688" y="1453896"/>
            <a:ext cx="118872" cy="118872"/>
          </a:xfrm>
          <a:prstGeom prst="roundRect">
            <a:avLst>
              <a:gd fmla="val 23077" name="adj"/>
            </a:avLst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1097280" y="1453896"/>
            <a:ext cx="118872" cy="118872"/>
          </a:xfrm>
          <a:prstGeom prst="roundRect">
            <a:avLst>
              <a:gd fmla="val 23077" name="adj"/>
            </a:avLst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4736592" y="1426464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841248" y="1764792"/>
            <a:ext cx="4773168" cy="3822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&lt;div class="product"&gt;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&lt;a class="title" title="Laptop A"&gt;Laptop...&lt;/a&gt;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&lt;h4 class="price"&gt;$500&lt;/h4&gt;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&lt;div class="ratings"&gt;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&lt;p class="ws-icon ws-icon-star"&gt;&lt;/p&gt;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&lt;/div&gt;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6199632" y="1371600"/>
            <a:ext cx="2505456" cy="594360"/>
          </a:xfrm>
          <a:prstGeom prst="roundRect">
            <a:avLst>
              <a:gd fmla="val 6154" name="adj"/>
            </a:avLst>
          </a:prstGeom>
          <a:solidFill>
            <a:srgbClr val="EAF1FF"/>
          </a:solidFill>
          <a:ln cap="flat" cmpd="sng" w="12700">
            <a:solidFill>
              <a:srgbClr val="C9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/>
          <p:nvPr/>
        </p:nvSpPr>
        <p:spPr>
          <a:xfrm>
            <a:off x="6400800" y="153619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2F6BFF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8961120" y="152704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all &lt;div&gt; tags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6199632" y="2221992"/>
            <a:ext cx="2505456" cy="594360"/>
          </a:xfrm>
          <a:prstGeom prst="roundRect">
            <a:avLst>
              <a:gd fmla="val 6154" name="adj"/>
            </a:avLst>
          </a:prstGeom>
          <a:solidFill>
            <a:srgbClr val="F0EEFF"/>
          </a:solidFill>
          <a:ln cap="flat" cmpd="sng" w="12700">
            <a:solidFill>
              <a:srgbClr val="D9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6400800" y="238658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.product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8961120" y="23774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any element with class="product"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6199632" y="3072384"/>
            <a:ext cx="2505456" cy="594360"/>
          </a:xfrm>
          <a:prstGeom prst="roundRect">
            <a:avLst>
              <a:gd fmla="val 6154" name="adj"/>
            </a:avLst>
          </a:prstGeom>
          <a:solidFill>
            <a:srgbClr val="EAF1FF"/>
          </a:solidFill>
          <a:ln cap="flat" cmpd="sng" w="12700">
            <a:solidFill>
              <a:srgbClr val="C9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6400800" y="323697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2F6BFF"/>
                </a:solidFill>
                <a:latin typeface="Consolas"/>
                <a:ea typeface="Consolas"/>
                <a:cs typeface="Consolas"/>
                <a:sym typeface="Consolas"/>
              </a:rPr>
              <a:t>div.product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8961120" y="32278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 &lt;div&gt; with that class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6199632" y="3922776"/>
            <a:ext cx="2505456" cy="594360"/>
          </a:xfrm>
          <a:prstGeom prst="roundRect">
            <a:avLst>
              <a:gd fmla="val 6154" name="adj"/>
            </a:avLst>
          </a:prstGeom>
          <a:solidFill>
            <a:srgbClr val="F0EEFF"/>
          </a:solidFill>
          <a:ln cap="flat" cmpd="sng" w="12700">
            <a:solidFill>
              <a:srgbClr val="D9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6400800" y="408736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.product .title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8961120" y="40782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 title inside a product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199632" y="4773168"/>
            <a:ext cx="2505456" cy="594360"/>
          </a:xfrm>
          <a:prstGeom prst="roundRect">
            <a:avLst>
              <a:gd fmla="val 6154" name="adj"/>
            </a:avLst>
          </a:prstGeom>
          <a:solidFill>
            <a:srgbClr val="EAF1FF"/>
          </a:solidFill>
          <a:ln cap="flat" cmpd="sng" w="12700">
            <a:solidFill>
              <a:srgbClr val="C9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6400800" y="49377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2F6BFF"/>
                </a:solidFill>
                <a:latin typeface="Consolas"/>
                <a:ea typeface="Consolas"/>
                <a:cs typeface="Consolas"/>
                <a:sym typeface="Consolas"/>
              </a:rPr>
              <a:t>p.ws-icon.ws-icon-star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8961120" y="492861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one &lt;p&gt; with both classes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 txBox="1"/>
          <p:nvPr>
            <p:ph idx="4294967295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B84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/>
          <p:nvPr/>
        </p:nvSpPr>
        <p:spPr>
          <a:xfrm>
            <a:off x="0" y="45725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Use this when the data already exists in the page source.</a:t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685800" y="1874519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Check source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Can you find the data in HTML?</a:t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685800" y="2478024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Fetch HTML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Request the page.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685800" y="3081528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Parse HTML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Create BeautifulSoup object.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685800" y="3685031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Find blocks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Repeated cards or quotes.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685800" y="4288536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5. Extract fields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.text or attributes.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685800" y="4892040"/>
            <a:ext cx="30632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6. Return results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List of dictionaries.</a:t>
            </a:r>
            <a:endParaRPr/>
          </a:p>
        </p:txBody>
      </p:sp>
      <p:cxnSp>
        <p:nvCxnSpPr>
          <p:cNvPr id="141" name="Google Shape;141;p13"/>
          <p:cNvCxnSpPr/>
          <p:nvPr/>
        </p:nvCxnSpPr>
        <p:spPr>
          <a:xfrm>
            <a:off x="2221991" y="2331720"/>
            <a:ext cx="0" cy="128016"/>
          </a:xfrm>
          <a:prstGeom prst="straightConnector1">
            <a:avLst/>
          </a:prstGeom>
          <a:noFill/>
          <a:ln cap="flat" cmpd="sng" w="13950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2" name="Google Shape;142;p13"/>
          <p:cNvCxnSpPr/>
          <p:nvPr/>
        </p:nvCxnSpPr>
        <p:spPr>
          <a:xfrm>
            <a:off x="2221991" y="2935224"/>
            <a:ext cx="0" cy="128016"/>
          </a:xfrm>
          <a:prstGeom prst="straightConnector1">
            <a:avLst/>
          </a:prstGeom>
          <a:noFill/>
          <a:ln cap="flat" cmpd="sng" w="13950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3" name="Google Shape;143;p13"/>
          <p:cNvCxnSpPr/>
          <p:nvPr/>
        </p:nvCxnSpPr>
        <p:spPr>
          <a:xfrm>
            <a:off x="2221991" y="3538728"/>
            <a:ext cx="0" cy="128016"/>
          </a:xfrm>
          <a:prstGeom prst="straightConnector1">
            <a:avLst/>
          </a:prstGeom>
          <a:noFill/>
          <a:ln cap="flat" cmpd="sng" w="13950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4" name="Google Shape;144;p13"/>
          <p:cNvCxnSpPr/>
          <p:nvPr/>
        </p:nvCxnSpPr>
        <p:spPr>
          <a:xfrm>
            <a:off x="2221991" y="4142231"/>
            <a:ext cx="0" cy="128017"/>
          </a:xfrm>
          <a:prstGeom prst="straightConnector1">
            <a:avLst/>
          </a:prstGeom>
          <a:noFill/>
          <a:ln cap="flat" cmpd="sng" w="13950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5" name="Google Shape;145;p13"/>
          <p:cNvCxnSpPr/>
          <p:nvPr/>
        </p:nvCxnSpPr>
        <p:spPr>
          <a:xfrm>
            <a:off x="2221991" y="4745736"/>
            <a:ext cx="0" cy="128016"/>
          </a:xfrm>
          <a:prstGeom prst="straightConnector1">
            <a:avLst/>
          </a:prstGeom>
          <a:noFill/>
          <a:ln cap="flat" cmpd="sng" w="13950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13"/>
          <p:cNvSpPr/>
          <p:nvPr/>
        </p:nvSpPr>
        <p:spPr>
          <a:xfrm>
            <a:off x="4007850" y="2163775"/>
            <a:ext cx="4037100" cy="23163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html = fetch_html(url)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soup = BeautifulSoup(html, "html.parser")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cards = soup.find_all("div", class_="quote")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for card in cards: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text = card.find("span", class_="text")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text = text.get_text(strip=True)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8275320" y="1965960"/>
            <a:ext cx="29718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26AE7F"/>
                </a:solidFill>
                <a:latin typeface="Arial"/>
                <a:ea typeface="Arial"/>
                <a:cs typeface="Arial"/>
                <a:sym typeface="Arial"/>
              </a:rPr>
              <a:t>Use when page source already contains the data.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8275320" y="324612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FF9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FF9040"/>
                </a:solidFill>
                <a:latin typeface="Arial"/>
                <a:ea typeface="Arial"/>
                <a:cs typeface="Arial"/>
                <a:sym typeface="Arial"/>
              </a:rPr>
              <a:t>Avoid when JavaScript creates the final content.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8412480" y="4572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Fast, simple, low resources.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3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Breaks if tags/classes change.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566920" y="768228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Method 1 — Requests + BeautifulSoup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3801255" y="5921467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10195560" y="5623560"/>
            <a:ext cx="658368" cy="658368"/>
          </a:xfrm>
          <a:prstGeom prst="ellipse">
            <a:avLst/>
          </a:prstGeom>
          <a:solidFill>
            <a:srgbClr val="DE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Use this when the website exposes structured JSON data.</a:t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685800" y="1828800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Find endpoint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Network tab or known API URL.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685800" y="2459736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Request JSON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Fetch the API URL.</a:t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685800" y="3090672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Convert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json.loads(json_text).</a:t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685800" y="3721608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Inspect keys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Print data.keys() or a sample.</a:t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685800" y="4352544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5. Loop items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Extract values from dictionaries.</a:t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685800" y="4983479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6. Handle pages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page += 1 or has_next.</a:t>
            </a:r>
            <a:endParaRPr/>
          </a:p>
        </p:txBody>
      </p:sp>
      <p:cxnSp>
        <p:nvCxnSpPr>
          <p:cNvPr id="168" name="Google Shape;168;p14"/>
          <p:cNvCxnSpPr/>
          <p:nvPr/>
        </p:nvCxnSpPr>
        <p:spPr>
          <a:xfrm>
            <a:off x="2167128" y="2304288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9" name="Google Shape;169;p14"/>
          <p:cNvCxnSpPr/>
          <p:nvPr/>
        </p:nvCxnSpPr>
        <p:spPr>
          <a:xfrm>
            <a:off x="2167128" y="2935224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0" name="Google Shape;170;p14"/>
          <p:cNvCxnSpPr/>
          <p:nvPr/>
        </p:nvCxnSpPr>
        <p:spPr>
          <a:xfrm>
            <a:off x="2167128" y="3566160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1" name="Google Shape;171;p14"/>
          <p:cNvCxnSpPr/>
          <p:nvPr/>
        </p:nvCxnSpPr>
        <p:spPr>
          <a:xfrm>
            <a:off x="2167128" y="4197096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2" name="Google Shape;172;p14"/>
          <p:cNvCxnSpPr/>
          <p:nvPr/>
        </p:nvCxnSpPr>
        <p:spPr>
          <a:xfrm>
            <a:off x="2167128" y="4828031"/>
            <a:ext cx="0" cy="137161"/>
          </a:xfrm>
          <a:prstGeom prst="straightConnector1">
            <a:avLst/>
          </a:prstGeom>
          <a:noFill/>
          <a:ln cap="flat" cmpd="sng" w="13950">
            <a:solidFill>
              <a:srgbClr val="22C4D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3" name="Google Shape;173;p14"/>
          <p:cNvSpPr/>
          <p:nvPr/>
        </p:nvSpPr>
        <p:spPr>
          <a:xfrm>
            <a:off x="4048112" y="2020825"/>
            <a:ext cx="3747300" cy="20985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son_text = fetch_html(api_url)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data = json.loads(json_text)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items = data["quotes"]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for item in items: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text = item["text"]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author = item["author"]["name"]</a:t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8183879" y="1874519"/>
            <a:ext cx="3063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Think in keys, not HTML tags.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8321040" y="3063240"/>
            <a:ext cx="2788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Cleaner than visual-page scraping.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Usually more stable than CSS selectors.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Still handle pagination and errors.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585220" y="759078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Method 2 — API and JSON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0195560" y="5623560"/>
            <a:ext cx="658368" cy="658368"/>
          </a:xfrm>
          <a:prstGeom prst="ellipse">
            <a:avLst/>
          </a:prstGeom>
          <a:solidFill>
            <a:srgbClr val="DE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Use this when structured JSON is embedded inside HTML.</a:t>
            </a:r>
            <a:endParaRPr/>
          </a:p>
        </p:txBody>
      </p:sp>
      <p:cxnSp>
        <p:nvCxnSpPr>
          <p:cNvPr id="187" name="Google Shape;187;p15"/>
          <p:cNvCxnSpPr/>
          <p:nvPr/>
        </p:nvCxnSpPr>
        <p:spPr>
          <a:xfrm>
            <a:off x="2697480" y="2606040"/>
            <a:ext cx="804672" cy="0"/>
          </a:xfrm>
          <a:prstGeom prst="straightConnector1">
            <a:avLst/>
          </a:prstGeom>
          <a:noFill/>
          <a:ln cap="flat" cmpd="sng" w="19050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" name="Google Shape;188;p15"/>
          <p:cNvCxnSpPr/>
          <p:nvPr/>
        </p:nvCxnSpPr>
        <p:spPr>
          <a:xfrm>
            <a:off x="5394960" y="2606040"/>
            <a:ext cx="804672" cy="0"/>
          </a:xfrm>
          <a:prstGeom prst="straightConnector1">
            <a:avLst/>
          </a:prstGeom>
          <a:noFill/>
          <a:ln cap="flat" cmpd="sng" w="19050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9" name="Google Shape;189;p15"/>
          <p:cNvCxnSpPr/>
          <p:nvPr/>
        </p:nvCxnSpPr>
        <p:spPr>
          <a:xfrm>
            <a:off x="8092440" y="2606040"/>
            <a:ext cx="804672" cy="0"/>
          </a:xfrm>
          <a:prstGeom prst="straightConnector1">
            <a:avLst/>
          </a:prstGeom>
          <a:noFill/>
          <a:ln cap="flat" cmpd="sng" w="19050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0" name="Google Shape;190;p15"/>
          <p:cNvSpPr/>
          <p:nvPr/>
        </p:nvSpPr>
        <p:spPr>
          <a:xfrm>
            <a:off x="914400" y="214884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Find JSON-LD scripts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script type=application/ld+json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3611880" y="214884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Parse script text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json.loads(script.string)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6309360" y="214884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Filter target type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example: @type == Quote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9006840" y="214884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Extract + normalize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nested .get(), split keywords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1066788" y="3324788"/>
            <a:ext cx="100584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JSON-LD is still inside HTML, but the useful data is JSON, not visible page text.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1041650" y="4071250"/>
            <a:ext cx="4727400" cy="12345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scripts = soup.find_all("script", type="application/ld+json")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data = json.loads(script.string)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if data.get("@type") == "Quote":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1050800" y="5367522"/>
            <a:ext cx="4709100" cy="9144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author = data.get("author", {}).get("name")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keywords = data.get("keywords", "")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566920" y="717853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Method 3 — JSON-LD inside HTML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6629200" y="4071250"/>
            <a:ext cx="4496100" cy="2210700"/>
          </a:xfrm>
          <a:prstGeom prst="roundRect">
            <a:avLst>
              <a:gd fmla="val 1538" name="adj"/>
            </a:avLst>
          </a:prstGeom>
          <a:solidFill>
            <a:srgbClr val="0F172A"/>
          </a:solidFill>
          <a:ln cap="flat" cmpd="sng" w="12700">
            <a:solidFill>
              <a:srgbClr val="243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6785472" y="3305591"/>
            <a:ext cx="118800" cy="118800"/>
          </a:xfrm>
          <a:prstGeom prst="roundRect">
            <a:avLst>
              <a:gd fmla="val 23077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950064" y="3305591"/>
            <a:ext cx="118800" cy="118800"/>
          </a:xfrm>
          <a:prstGeom prst="roundRect">
            <a:avLst>
              <a:gd fmla="val 23077" name="adj"/>
            </a:avLst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7114656" y="3305591"/>
            <a:ext cx="118800" cy="118800"/>
          </a:xfrm>
          <a:prstGeom prst="roundRect">
            <a:avLst>
              <a:gd fmla="val 23077" name="adj"/>
            </a:avLst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0708248" y="3278159"/>
            <a:ext cx="868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6904275" y="4430380"/>
            <a:ext cx="47274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&lt;script type="application/ld+json"&gt;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"@type": "Product",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"name": "Laptop A",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"author": {"name": "Example"},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"keywords": "tech, laptop"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30425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10195560" y="5623560"/>
            <a:ext cx="658368" cy="658368"/>
          </a:xfrm>
          <a:prstGeom prst="ellipse">
            <a:avLst/>
          </a:prstGeom>
          <a:solidFill>
            <a:srgbClr val="DE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Use a Session when the website must recognize the same user across requests.</a:t>
            </a:r>
            <a:endParaRPr/>
          </a:p>
        </p:txBody>
      </p:sp>
      <p:cxnSp>
        <p:nvCxnSpPr>
          <p:cNvPr id="214" name="Google Shape;214;p16"/>
          <p:cNvCxnSpPr/>
          <p:nvPr/>
        </p:nvCxnSpPr>
        <p:spPr>
          <a:xfrm>
            <a:off x="3840480" y="2217420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5" name="Google Shape;215;p16"/>
          <p:cNvCxnSpPr/>
          <p:nvPr/>
        </p:nvCxnSpPr>
        <p:spPr>
          <a:xfrm>
            <a:off x="7589520" y="2217420"/>
            <a:ext cx="502920" cy="0"/>
          </a:xfrm>
          <a:prstGeom prst="straightConnector1">
            <a:avLst/>
          </a:prstGeom>
          <a:noFill/>
          <a:ln cap="flat" cmpd="sng" w="177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6" name="Google Shape;216;p16"/>
          <p:cNvCxnSpPr/>
          <p:nvPr/>
        </p:nvCxnSpPr>
        <p:spPr>
          <a:xfrm>
            <a:off x="9715500" y="2560320"/>
            <a:ext cx="0" cy="822960"/>
          </a:xfrm>
          <a:prstGeom prst="straightConnector1">
            <a:avLst/>
          </a:prstGeom>
          <a:noFill/>
          <a:ln cap="flat" cmpd="sng" w="177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7" name="Google Shape;217;p16"/>
          <p:cNvCxnSpPr/>
          <p:nvPr/>
        </p:nvCxnSpPr>
        <p:spPr>
          <a:xfrm rot="10800000">
            <a:off x="4343400" y="3726180"/>
            <a:ext cx="6995159" cy="0"/>
          </a:xfrm>
          <a:prstGeom prst="straightConnector1">
            <a:avLst/>
          </a:prstGeom>
          <a:noFill/>
          <a:ln cap="flat" cmpd="sng" w="177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8" name="Google Shape;218;p16"/>
          <p:cNvCxnSpPr/>
          <p:nvPr/>
        </p:nvCxnSpPr>
        <p:spPr>
          <a:xfrm rot="10800000">
            <a:off x="594360" y="3726180"/>
            <a:ext cx="6995160" cy="0"/>
          </a:xfrm>
          <a:prstGeom prst="straightConnector1">
            <a:avLst/>
          </a:prstGeom>
          <a:noFill/>
          <a:ln cap="flat" cmpd="sng" w="177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9" name="Google Shape;219;p16"/>
          <p:cNvSpPr/>
          <p:nvPr/>
        </p:nvSpPr>
        <p:spPr>
          <a:xfrm>
            <a:off x="594360" y="1874519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Create Session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session = requests.Session()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4343400" y="1874519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GET login page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receive form + cookies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8092440" y="1874519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Extract CSRF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hidden input value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8092440" y="3383280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POST payload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username + password + token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4343400" y="3383280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5. Verify login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200 OK is not enough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594360" y="3383280"/>
            <a:ext cx="324612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6. GET protected page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same session, same cookies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566920" y="67664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Method 4 — Login, Sessions, Cookies and CSRF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1243455" y="5029325"/>
            <a:ext cx="4983600" cy="14172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1614600" y="5335245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1614600" y="5728437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Keeps cookies between requests, so the website sees the same visitor.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6354940" y="5029325"/>
            <a:ext cx="4983600" cy="1417200"/>
          </a:xfrm>
          <a:prstGeom prst="roundRect">
            <a:avLst>
              <a:gd fmla="val 3871" name="adj"/>
            </a:avLst>
          </a:prstGeom>
          <a:solidFill>
            <a:srgbClr val="FFF1E7"/>
          </a:solidFill>
          <a:ln cap="flat" cmpd="sng" w="12700">
            <a:solidFill>
              <a:srgbClr val="FFD6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6629260" y="5335245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8B3D"/>
                </a:solidFill>
                <a:latin typeface="Arial"/>
                <a:ea typeface="Arial"/>
                <a:cs typeface="Arial"/>
                <a:sym typeface="Arial"/>
              </a:rPr>
              <a:t>CSRF token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6629260" y="5728437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A hidden security value that must often be returned with the form data.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0195560" y="5623560"/>
            <a:ext cx="658368" cy="658368"/>
          </a:xfrm>
          <a:prstGeom prst="ellipse">
            <a:avLst/>
          </a:prstGeom>
          <a:solidFill>
            <a:srgbClr val="DE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Use this when JavaScript, clicking, typing, waiting, or scrolling is required.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685800" y="1737360"/>
            <a:ext cx="3063300" cy="47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Setup browser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headless, window size, no sandbox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685800" y="2368296"/>
            <a:ext cx="3063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Open page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driver.get(url)</a:t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685800" y="2999232"/>
            <a:ext cx="3063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Wait / interact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sleep, click, type, filters</a:t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685800" y="3630168"/>
            <a:ext cx="3063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Find elements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driver or product scope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685800" y="4261104"/>
            <a:ext cx="3063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5. Extract values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.text or get_attribute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685800" y="4892040"/>
            <a:ext cx="3063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6. Cleanup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driver.quit() in finally</a:t>
            </a:r>
            <a:endParaRPr/>
          </a:p>
        </p:txBody>
      </p:sp>
      <p:cxnSp>
        <p:nvCxnSpPr>
          <p:cNvPr id="248" name="Google Shape;248;p17"/>
          <p:cNvCxnSpPr/>
          <p:nvPr/>
        </p:nvCxnSpPr>
        <p:spPr>
          <a:xfrm>
            <a:off x="2221991" y="2212848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9" name="Google Shape;249;p17"/>
          <p:cNvCxnSpPr/>
          <p:nvPr/>
        </p:nvCxnSpPr>
        <p:spPr>
          <a:xfrm>
            <a:off x="2221991" y="2843784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0" name="Google Shape;250;p17"/>
          <p:cNvCxnSpPr/>
          <p:nvPr/>
        </p:nvCxnSpPr>
        <p:spPr>
          <a:xfrm>
            <a:off x="2221991" y="3474720"/>
            <a:ext cx="0" cy="137159"/>
          </a:xfrm>
          <a:prstGeom prst="straightConnector1">
            <a:avLst/>
          </a:prstGeom>
          <a:noFill/>
          <a:ln cap="flat" cmpd="sng" w="13950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1" name="Google Shape;251;p17"/>
          <p:cNvCxnSpPr/>
          <p:nvPr/>
        </p:nvCxnSpPr>
        <p:spPr>
          <a:xfrm>
            <a:off x="2221991" y="4105656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2" name="Google Shape;252;p17"/>
          <p:cNvCxnSpPr/>
          <p:nvPr/>
        </p:nvCxnSpPr>
        <p:spPr>
          <a:xfrm>
            <a:off x="2221991" y="4736592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3" name="Google Shape;253;p17"/>
          <p:cNvSpPr/>
          <p:nvPr/>
        </p:nvSpPr>
        <p:spPr>
          <a:xfrm>
            <a:off x="5437150" y="2071500"/>
            <a:ext cx="4575000" cy="27150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driver = webdriver.Chrome(options=options)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driver.get(url)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time.sleep(delay)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products = driver.find_elements(...)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finally: driver.quit()</a:t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566920" y="717851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Method 5 — Selenium browser automation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109728" y="5715000"/>
            <a:ext cx="731520" cy="731520"/>
          </a:xfrm>
          <a:prstGeom prst="ellipse">
            <a:avLst/>
          </a:prstGeom>
          <a:solidFill>
            <a:srgbClr val="DB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11018520" y="45720"/>
            <a:ext cx="502920" cy="502920"/>
          </a:xfrm>
          <a:prstGeom prst="ellipse">
            <a:avLst/>
          </a:prstGeom>
          <a:solidFill>
            <a:srgbClr val="EA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10195560" y="5623560"/>
            <a:ext cx="658368" cy="658368"/>
          </a:xfrm>
          <a:prstGeom prst="ellipse">
            <a:avLst/>
          </a:prstGeom>
          <a:solidFill>
            <a:srgbClr val="DE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566928" y="347472"/>
            <a:ext cx="1645920" cy="329184"/>
          </a:xfrm>
          <a:prstGeom prst="roundRect">
            <a:avLst>
              <a:gd fmla="val 16667" name="adj"/>
            </a:avLst>
          </a:prstGeom>
          <a:solidFill>
            <a:srgbClr val="E8EA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METHOD LOGIC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66928" y="74980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Logic for loading more data + duplicates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585216" y="1261872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C6882"/>
                </a:solidFill>
                <a:latin typeface="Arial"/>
                <a:ea typeface="Arial"/>
                <a:cs typeface="Arial"/>
                <a:sym typeface="Arial"/>
              </a:rPr>
              <a:t>Pagination follows links; infinite scroll watches page height. Both may require duplicate checks.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484F0"/>
                </a:solidFill>
                <a:latin typeface="Arial"/>
                <a:ea typeface="Arial"/>
                <a:cs typeface="Arial"/>
                <a:sym typeface="Arial"/>
              </a:rPr>
              <a:t>Pagination logic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452628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AE7F"/>
                </a:solidFill>
                <a:latin typeface="Arial"/>
                <a:ea typeface="Arial"/>
                <a:cs typeface="Arial"/>
                <a:sym typeface="Arial"/>
              </a:rPr>
              <a:t>Infinite scroll logic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8549640" y="1783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Duplicate logic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731520" y="219456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Scrape current page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collect visible items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731520" y="292608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Find Next link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li.next a[href]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731520" y="365760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Build full URL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urljoin(current, href)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731520" y="438912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3484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Stop when missing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if next is None: break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4526280" y="219456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1. Measure height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document.body.scrollHeight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4526280" y="292608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2. Scroll bottom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window.scrollTo(...)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4526280" y="365760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3. Wait + measure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time.sleep(scroll_pause)</a:t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4526280" y="4389120"/>
            <a:ext cx="34747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26AE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09725" spcFirstLastPara="1" rIns="109725" wrap="square" tIns="6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42242"/>
                </a:solidFill>
                <a:latin typeface="Arial"/>
                <a:ea typeface="Arial"/>
                <a:cs typeface="Arial"/>
                <a:sym typeface="Arial"/>
              </a:rPr>
              <a:t>4. Stop unchanged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434D67"/>
                </a:solidFill>
                <a:latin typeface="Arial"/>
                <a:ea typeface="Arial"/>
                <a:cs typeface="Arial"/>
                <a:sym typeface="Arial"/>
              </a:rPr>
              <a:t>new_height == last_height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8549640" y="2240280"/>
            <a:ext cx="2651760" cy="1600200"/>
          </a:xfrm>
          <a:prstGeom prst="roundRect">
            <a:avLst>
              <a:gd fmla="val 16667" name="adj"/>
            </a:avLst>
          </a:prstGeom>
          <a:solidFill>
            <a:srgbClr val="16203A"/>
          </a:solidFill>
          <a:ln cap="flat" cmpd="sng" w="12700">
            <a:solidFill>
              <a:srgbClr val="465A8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64575" spcFirstLastPara="1" rIns="73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seen = set()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key = (title, 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if key in seen: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    continue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CECFF"/>
                </a:solidFill>
                <a:latin typeface="Consolas"/>
                <a:ea typeface="Consolas"/>
                <a:cs typeface="Consolas"/>
                <a:sym typeface="Consolas"/>
              </a:rPr>
              <a:t>seen.add(key)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8549640" y="4160520"/>
            <a:ext cx="26517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55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755AF0"/>
                </a:solidFill>
                <a:latin typeface="Arial"/>
                <a:ea typeface="Arial"/>
                <a:cs typeface="Arial"/>
                <a:sym typeface="Arial"/>
              </a:rPr>
              <a:t>Store the unique key in a set, not the whole dictionary.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How to choose the right method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530352" y="85039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Start with the simplest route, then move to a browser only when necessary.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9829800" y="347472"/>
            <a:ext cx="1783080" cy="347472"/>
          </a:xfrm>
          <a:prstGeom prst="roundRect">
            <a:avLst>
              <a:gd fmla="val 21053" name="adj"/>
            </a:avLst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9921240" y="41605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4041648" y="1234440"/>
            <a:ext cx="4114800" cy="694944"/>
          </a:xfrm>
          <a:prstGeom prst="roundRect">
            <a:avLst>
              <a:gd fmla="val 7895" name="adj"/>
            </a:avLst>
          </a:prstGeom>
          <a:solidFill>
            <a:srgbClr val="11213D"/>
          </a:solidFill>
          <a:ln cap="flat" cmpd="sng" w="12700">
            <a:solidFill>
              <a:srgbClr val="11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4270248" y="14630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the required data in the returned HTML?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19"/>
          <p:cNvCxnSpPr/>
          <p:nvPr/>
        </p:nvCxnSpPr>
        <p:spPr>
          <a:xfrm>
            <a:off x="6099048" y="1929384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19"/>
          <p:cNvCxnSpPr/>
          <p:nvPr/>
        </p:nvCxnSpPr>
        <p:spPr>
          <a:xfrm>
            <a:off x="2834640" y="2478024"/>
            <a:ext cx="6537960" cy="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19"/>
          <p:cNvCxnSpPr/>
          <p:nvPr/>
        </p:nvCxnSpPr>
        <p:spPr>
          <a:xfrm>
            <a:off x="2834640" y="2478024"/>
            <a:ext cx="0" cy="566928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9"/>
          <p:cNvCxnSpPr/>
          <p:nvPr/>
        </p:nvCxnSpPr>
        <p:spPr>
          <a:xfrm>
            <a:off x="9372600" y="2478024"/>
            <a:ext cx="0" cy="566928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9"/>
          <p:cNvSpPr/>
          <p:nvPr/>
        </p:nvSpPr>
        <p:spPr>
          <a:xfrm>
            <a:off x="2377440" y="2267712"/>
            <a:ext cx="868680" cy="320040"/>
          </a:xfrm>
          <a:prstGeom prst="roundRect">
            <a:avLst>
              <a:gd fmla="val 28571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2450592" y="2336292"/>
            <a:ext cx="72237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8942832" y="2267712"/>
            <a:ext cx="868680" cy="320040"/>
          </a:xfrm>
          <a:prstGeom prst="roundRect">
            <a:avLst>
              <a:gd fmla="val 28571" name="adj"/>
            </a:avLst>
          </a:prstGeom>
          <a:solidFill>
            <a:srgbClr val="FF8B3D"/>
          </a:solidFill>
          <a:ln cap="flat" cmpd="sng" w="1270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9015984" y="2336292"/>
            <a:ext cx="72237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1097280" y="3017520"/>
            <a:ext cx="3493008" cy="1005840"/>
          </a:xfrm>
          <a:prstGeom prst="roundRect">
            <a:avLst>
              <a:gd fmla="val 4545" name="adj"/>
            </a:avLst>
          </a:prstGeom>
          <a:solidFill>
            <a:srgbClr val="EAF1FF"/>
          </a:solidFill>
          <a:ln cap="flat" cmpd="sng" w="12700">
            <a:solidFill>
              <a:srgbClr val="C9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1335024" y="32735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Requests + BeautifulSoup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589520" y="3017520"/>
            <a:ext cx="3493008" cy="1005840"/>
          </a:xfrm>
          <a:prstGeom prst="roundRect">
            <a:avLst>
              <a:gd fmla="val 4545" name="adj"/>
            </a:avLst>
          </a:prstGeom>
          <a:solidFill>
            <a:srgbClr val="FFF1E7"/>
          </a:solidFill>
          <a:ln cap="flat" cmpd="sng" w="12700">
            <a:solidFill>
              <a:srgbClr val="FFD6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7863840" y="32735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B3D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F8B3D"/>
                </a:solidFill>
                <a:latin typeface="Arial"/>
                <a:ea typeface="Arial"/>
                <a:cs typeface="Arial"/>
                <a:sym typeface="Arial"/>
              </a:rPr>
              <a:t>Is there an API endpoint?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19"/>
          <p:cNvCxnSpPr/>
          <p:nvPr/>
        </p:nvCxnSpPr>
        <p:spPr>
          <a:xfrm>
            <a:off x="9336024" y="4023360"/>
            <a:ext cx="0" cy="54864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9"/>
          <p:cNvCxnSpPr/>
          <p:nvPr/>
        </p:nvCxnSpPr>
        <p:spPr>
          <a:xfrm>
            <a:off x="7269480" y="4572000"/>
            <a:ext cx="4114800" cy="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9"/>
          <p:cNvCxnSpPr/>
          <p:nvPr/>
        </p:nvCxnSpPr>
        <p:spPr>
          <a:xfrm>
            <a:off x="7269480" y="45720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9"/>
          <p:cNvCxnSpPr/>
          <p:nvPr/>
        </p:nvCxnSpPr>
        <p:spPr>
          <a:xfrm>
            <a:off x="11384280" y="45720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9AA7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9"/>
          <p:cNvSpPr/>
          <p:nvPr/>
        </p:nvSpPr>
        <p:spPr>
          <a:xfrm>
            <a:off x="6812280" y="4361688"/>
            <a:ext cx="868680" cy="320040"/>
          </a:xfrm>
          <a:prstGeom prst="roundRect">
            <a:avLst>
              <a:gd fmla="val 28571" name="adj"/>
            </a:avLst>
          </a:prstGeom>
          <a:solidFill>
            <a:srgbClr val="15B6A7"/>
          </a:solidFill>
          <a:ln cap="flat" cmpd="sng" w="12700">
            <a:solidFill>
              <a:srgbClr val="15B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885432" y="4430268"/>
            <a:ext cx="72237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10945368" y="4361688"/>
            <a:ext cx="868680" cy="320040"/>
          </a:xfrm>
          <a:prstGeom prst="roundRect">
            <a:avLst>
              <a:gd fmla="val 28571" name="adj"/>
            </a:avLst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11018520" y="4430268"/>
            <a:ext cx="72237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715000" y="5029200"/>
            <a:ext cx="3108960" cy="868680"/>
          </a:xfrm>
          <a:prstGeom prst="roundRect">
            <a:avLst>
              <a:gd fmla="val 5263" name="adj"/>
            </a:avLst>
          </a:prstGeom>
          <a:solidFill>
            <a:srgbClr val="E9F8F6"/>
          </a:solidFill>
          <a:ln cap="flat" cmpd="sng" w="12700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5989320" y="5321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B6A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5B6A7"/>
                </a:solidFill>
                <a:latin typeface="Arial"/>
                <a:ea typeface="Arial"/>
                <a:cs typeface="Arial"/>
                <a:sym typeface="Arial"/>
              </a:rPr>
              <a:t>Use the API / JSON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9710928" y="5029200"/>
            <a:ext cx="1874520" cy="868680"/>
          </a:xfrm>
          <a:prstGeom prst="roundRect">
            <a:avLst>
              <a:gd fmla="val 5263" name="adj"/>
            </a:avLst>
          </a:prstGeom>
          <a:solidFill>
            <a:srgbClr val="F0EEFF"/>
          </a:solidFill>
          <a:ln cap="flat" cmpd="sng" w="12700">
            <a:solidFill>
              <a:srgbClr val="D9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9893808" y="532180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6C63FF"/>
                </a:solidFill>
                <a:latin typeface="Arial"/>
                <a:ea typeface="Arial"/>
                <a:cs typeface="Arial"/>
                <a:sym typeface="Arial"/>
              </a:rPr>
              <a:t>Use Selenium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1097280" y="4590288"/>
            <a:ext cx="3493008" cy="969264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1371600" y="480060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6C63FF"/>
                </a:solidFill>
                <a:latin typeface="Arial"/>
                <a:ea typeface="Arial"/>
                <a:cs typeface="Arial"/>
                <a:sym typeface="Arial"/>
              </a:rPr>
              <a:t>Check JSON-LD too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1444752" y="5138928"/>
            <a:ext cx="2788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It may provide cleaner fields than the visible HTML.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>
            <p:ph idx="4294967295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B84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1213D"/>
                </a:solidFill>
                <a:latin typeface="Play"/>
                <a:ea typeface="Play"/>
                <a:cs typeface="Play"/>
                <a:sym typeface="Play"/>
              </a:rPr>
              <a:t>Five sentences to remember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30352" y="85039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 one-minute recap for the end of the presentation.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10241280" y="347472"/>
            <a:ext cx="1783080" cy="347472"/>
          </a:xfrm>
          <a:prstGeom prst="roundRect">
            <a:avLst>
              <a:gd fmla="val 21053" name="adj"/>
            </a:avLst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10332720" y="41605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777240" y="1261872"/>
            <a:ext cx="1065276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1005840" y="1389888"/>
            <a:ext cx="457200" cy="45720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1005840" y="1490472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1737360" y="13990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Static HTML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3675888" y="1408176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Use Requests + BeautifulSoup when the data is already in the HTML.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777240" y="2194560"/>
            <a:ext cx="10652760" cy="713232"/>
          </a:xfrm>
          <a:prstGeom prst="roundRect">
            <a:avLst>
              <a:gd fmla="val 6410" name="adj"/>
            </a:avLst>
          </a:prstGeom>
          <a:solidFill>
            <a:srgbClr val="F2F5FA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1005840" y="2322576"/>
            <a:ext cx="457200" cy="457200"/>
          </a:xfrm>
          <a:prstGeom prst="ellipse">
            <a:avLst/>
          </a:prstGeom>
          <a:solidFill>
            <a:srgbClr val="15B6A7"/>
          </a:solidFill>
          <a:ln cap="flat" cmpd="sng" w="12700">
            <a:solidFill>
              <a:srgbClr val="15B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1005840" y="2423160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737360" y="23317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API first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3675888" y="2340864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Prefer JSON APIs when available because they are structured and stable.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777240" y="3127248"/>
            <a:ext cx="1065276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1005840" y="3255264"/>
            <a:ext cx="457200" cy="457200"/>
          </a:xfrm>
          <a:prstGeom prst="ellipse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1005840" y="3355848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1737360" y="32644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Dynamic content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3675888" y="3273552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Use Selenium when JavaScript, clicks, typing or scrolling are required.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77240" y="4059936"/>
            <a:ext cx="10652760" cy="713232"/>
          </a:xfrm>
          <a:prstGeom prst="roundRect">
            <a:avLst>
              <a:gd fmla="val 6410" name="adj"/>
            </a:avLst>
          </a:prstGeom>
          <a:solidFill>
            <a:srgbClr val="F2F5FA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1005840" y="4187952"/>
            <a:ext cx="457200" cy="457200"/>
          </a:xfrm>
          <a:prstGeom prst="ellipse">
            <a:avLst/>
          </a:prstGeom>
          <a:solidFill>
            <a:srgbClr val="FF8B3D"/>
          </a:solidFill>
          <a:ln cap="flat" cmpd="sng" w="1270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1005840" y="428853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737360" y="41970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Inspect before coding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3675888" y="4206240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Tags, classes and attributes come from the real page structure.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777240" y="4992624"/>
            <a:ext cx="1065276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2700">
            <a:solidFill>
              <a:srgbClr val="D7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1005840" y="5120640"/>
            <a:ext cx="457200" cy="4572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1005840" y="5221224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1737360" y="51297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213D"/>
                </a:solidFill>
                <a:latin typeface="Arial"/>
                <a:ea typeface="Arial"/>
                <a:cs typeface="Arial"/>
                <a:sym typeface="Arial"/>
              </a:rPr>
              <a:t>Build responsibly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3675888" y="5138928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3044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233044"/>
                </a:solidFill>
                <a:latin typeface="Arial"/>
                <a:ea typeface="Arial"/>
                <a:cs typeface="Arial"/>
                <a:sym typeface="Arial"/>
              </a:rPr>
              <a:t>Handle waits, errors, duplicates, cleanup and request limits.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4114800" y="608990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C63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2"/>
          <p:cNvSpPr txBox="1"/>
          <p:nvPr>
            <p:ph idx="4294967295" type="sldNum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7B84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B84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2026-07-14T21:13:05Z</dcterms:created>
  <dc:creator>OpenAI</dc:creator>
</cp:coreProperties>
</file>